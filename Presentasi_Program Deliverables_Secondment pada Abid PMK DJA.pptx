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72" r:id="rId14"/>
    <p:sldId id="273" r:id="rId15"/>
    <p:sldId id="274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A5F"/>
    <a:srgbClr val="1C83E1"/>
    <a:srgbClr val="2C7A7B"/>
    <a:srgbClr val="553C9A"/>
    <a:srgbClr val="C05621"/>
    <a:srgbClr val="276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13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shanggaran.streamlit.app/" TargetMode="Externa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anggaran.streamlit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ubankum3/dashanggar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0115" y="183879"/>
            <a:ext cx="29820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DELIVERABLES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50952" y="751904"/>
            <a:ext cx="5862921" cy="36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spcAft>
                <a:spcPts val="45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Dashboard Analisis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0953" y="1121024"/>
            <a:ext cx="6836896" cy="41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spcAft>
                <a:spcPts val="45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 dan Realisasi Belanja Negara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0952" y="1732874"/>
            <a:ext cx="48364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500"/>
              </a:spcBef>
              <a:spcAft>
                <a:spcPts val="3750"/>
              </a:spcAft>
              <a:buNone/>
            </a:pPr>
            <a:r>
              <a:rPr lang="en-US" sz="1050" i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untuk Pengembangan Fitur Visualisasi pada Platform SatuDJA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0952" y="4111462"/>
            <a:ext cx="3699328" cy="567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Secondment pada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ts val="1365"/>
              </a:lnSpc>
              <a:buNone/>
            </a:pP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Bidang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Pembangunan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Manusia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Kebudayaan</a:t>
            </a:r>
            <a:endParaRPr lang="en-US" sz="975" dirty="0">
              <a:solidFill>
                <a:srgbClr val="FFFFFF">
                  <a:alpha val="90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365"/>
              </a:lnSpc>
              <a:buNone/>
            </a:pP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Jenderal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</a:t>
            </a:r>
            <a:endParaRPr lang="en-US" sz="975" dirty="0">
              <a:solidFill>
                <a:srgbClr val="FFFFFF">
                  <a:alpha val="90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4368" y="4678684"/>
            <a:ext cx="1161410" cy="1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Triwulan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 2025</a:t>
            </a:r>
            <a:endParaRPr lang="en-US" sz="900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97B8BC0D-A9CE-CFDF-A1CD-2340427CFB79}"/>
              </a:ext>
            </a:extLst>
          </p:cNvPr>
          <p:cNvSpPr>
            <a:spLocks noChangeAspect="1"/>
          </p:cNvSpPr>
          <p:nvPr/>
        </p:nvSpPr>
        <p:spPr>
          <a:xfrm>
            <a:off x="5090865" y="1798363"/>
            <a:ext cx="2680262" cy="2330662"/>
          </a:xfrm>
          <a:prstGeom prst="hexagon">
            <a:avLst/>
          </a:prstGeom>
          <a:blipFill>
            <a:blip r:embed="rId3"/>
            <a:stretch>
              <a:fillRect l="-21000" r="-21000"/>
            </a:stretch>
          </a:blipFill>
          <a:ln w="114300" cap="rnd" cmpd="thickThin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9A61E925-194A-BA46-6ED6-F47775BCCEA9}"/>
              </a:ext>
            </a:extLst>
          </p:cNvPr>
          <p:cNvSpPr>
            <a:spLocks noChangeAspect="1"/>
          </p:cNvSpPr>
          <p:nvPr/>
        </p:nvSpPr>
        <p:spPr>
          <a:xfrm>
            <a:off x="7404711" y="567543"/>
            <a:ext cx="2680262" cy="2330662"/>
          </a:xfrm>
          <a:prstGeom prst="hexagon">
            <a:avLst/>
          </a:prstGeom>
          <a:blipFill>
            <a:blip r:embed="rId4"/>
            <a:stretch>
              <a:fillRect l="-21000" r="-21000"/>
            </a:stretch>
          </a:blipFill>
          <a:ln w="114300" cap="rnd" cmpd="thickThin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EA69BB7F-C879-80DD-9E00-D90F077EB239}"/>
              </a:ext>
            </a:extLst>
          </p:cNvPr>
          <p:cNvSpPr>
            <a:spLocks noChangeAspect="1"/>
          </p:cNvSpPr>
          <p:nvPr/>
        </p:nvSpPr>
        <p:spPr>
          <a:xfrm>
            <a:off x="7372035" y="3093001"/>
            <a:ext cx="2680262" cy="2330662"/>
          </a:xfrm>
          <a:prstGeom prst="hexagon">
            <a:avLst/>
          </a:prstGeom>
          <a:blipFill>
            <a:blip r:embed="rId5"/>
            <a:stretch>
              <a:fillRect l="-21000" r="-21000"/>
            </a:stretch>
          </a:blipFill>
          <a:ln w="114300" cap="rnd" cmpd="thickThin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35312-EFA9-E134-8B3F-3BD5CE70C292}"/>
              </a:ext>
            </a:extLst>
          </p:cNvPr>
          <p:cNvSpPr txBox="1"/>
          <p:nvPr/>
        </p:nvSpPr>
        <p:spPr>
          <a:xfrm>
            <a:off x="254368" y="2816824"/>
            <a:ext cx="5069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MADE GDE SATRIA BELA</a:t>
            </a:r>
            <a:endParaRPr lang="en-ID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9261" y="2097435"/>
            <a:ext cx="965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07997" y="2588865"/>
            <a:ext cx="29278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Pendahuluan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45182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1392882"/>
            <a:ext cx="3905250" cy="898922"/>
          </a:xfrm>
          <a:prstGeom prst="roundRect">
            <a:avLst>
              <a:gd name="adj" fmla="val 8477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392882"/>
            <a:ext cx="0" cy="898922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62000" y="1545282"/>
            <a:ext cx="36335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</a:t>
            </a:r>
            <a:r>
              <a:rPr lang="en-US" sz="1050" b="1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DJA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1808113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SatuDJA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Sistem aplikasi terpadu proses penganggaran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1992809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BIDJA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Business Intelligence akses data anggaran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67250" y="1411932"/>
            <a:ext cx="3905250" cy="860822"/>
          </a:xfrm>
          <a:prstGeom prst="roundRect">
            <a:avLst>
              <a:gd name="adj" fmla="val 8852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411932"/>
            <a:ext cx="0" cy="860822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857750" y="1564332"/>
            <a:ext cx="36335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Optimalisasi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57750" y="1827163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visualisasi interaktif untuk analisis mendalam dan penyajian informasi kepada pimpinan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62928" y="2539733"/>
            <a:ext cx="8001000" cy="1271827"/>
          </a:xfrm>
          <a:prstGeom prst="roundRect">
            <a:avLst>
              <a:gd name="adj" fmla="val 10312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807" y="2588789"/>
            <a:ext cx="78306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Area Kebutuhan yang Teridentifikasi: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13804" y="349778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endParaRPr lang="en-US" sz="825" dirty="0"/>
          </a:p>
        </p:txBody>
      </p:sp>
      <p:pic>
        <p:nvPicPr>
          <p:cNvPr id="15" name="Image 0" descr="/tmp/rasterized-gradient-ad00e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96" y="3963960"/>
            <a:ext cx="8001000" cy="68178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3996" y="4116360"/>
            <a:ext cx="7850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Prototipe Dashboard sebagai </a:t>
            </a:r>
            <a:r>
              <a:rPr lang="en-US" sz="97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75" i="1" dirty="0"/>
          </a:p>
        </p:txBody>
      </p:sp>
      <p:sp>
        <p:nvSpPr>
          <p:cNvPr id="17" name="Text 14"/>
          <p:cNvSpPr/>
          <p:nvPr/>
        </p:nvSpPr>
        <p:spPr>
          <a:xfrm>
            <a:off x="733996" y="4346746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Demonstrasi konsep dan validasi kebutuhan untuk pengembangan modul visualisasi baru di SatuDJA</a:t>
            </a:r>
            <a:endParaRPr lang="en-US" sz="825" dirty="0"/>
          </a:p>
        </p:txBody>
      </p:sp>
      <p:pic>
        <p:nvPicPr>
          <p:cNvPr id="19" name="Graphic 18" descr="Statistics outline">
            <a:extLst>
              <a:ext uri="{FF2B5EF4-FFF2-40B4-BE49-F238E27FC236}">
                <a16:creationId xmlns:a16="http://schemas.microsoft.com/office/drawing/2014/main" id="{10545215-A43F-5852-8013-91B3AE84B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860" y="2805381"/>
            <a:ext cx="540000" cy="540000"/>
          </a:xfrm>
          <a:prstGeom prst="rect">
            <a:avLst/>
          </a:prstGeom>
        </p:spPr>
      </p:pic>
      <p:pic>
        <p:nvPicPr>
          <p:cNvPr id="21" name="Graphic 20" descr="Workflow with solid fill">
            <a:extLst>
              <a:ext uri="{FF2B5EF4-FFF2-40B4-BE49-F238E27FC236}">
                <a16:creationId xmlns:a16="http://schemas.microsoft.com/office/drawing/2014/main" id="{3C3EE1EB-80EF-227B-2665-64A3D1594E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40294" y="2811081"/>
            <a:ext cx="540000" cy="540000"/>
          </a:xfrm>
          <a:prstGeom prst="rect">
            <a:avLst/>
          </a:prstGeom>
        </p:spPr>
      </p:pic>
      <p:pic>
        <p:nvPicPr>
          <p:cNvPr id="25" name="Graphic 24" descr="Network with solid fill">
            <a:extLst>
              <a:ext uri="{FF2B5EF4-FFF2-40B4-BE49-F238E27FC236}">
                <a16:creationId xmlns:a16="http://schemas.microsoft.com/office/drawing/2014/main" id="{E8687119-0E69-2FFA-56DE-6EFFC23CD2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9162" y="2811081"/>
            <a:ext cx="540000" cy="540000"/>
          </a:xfrm>
          <a:prstGeom prst="rect">
            <a:avLst/>
          </a:prstGeom>
        </p:spPr>
      </p:pic>
      <p:pic>
        <p:nvPicPr>
          <p:cNvPr id="27" name="Graphic 26" descr="Gantt Chart with solid fill">
            <a:extLst>
              <a:ext uri="{FF2B5EF4-FFF2-40B4-BE49-F238E27FC236}">
                <a16:creationId xmlns:a16="http://schemas.microsoft.com/office/drawing/2014/main" id="{09281DDF-18D2-87E9-2D41-D4E26892FA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59150" y="2811081"/>
            <a:ext cx="540000" cy="540000"/>
          </a:xfrm>
          <a:prstGeom prst="rect">
            <a:avLst/>
          </a:prstGeom>
        </p:spPr>
      </p:pic>
      <p:pic>
        <p:nvPicPr>
          <p:cNvPr id="29" name="Graphic 28" descr="Presentation with pie chart with solid fill">
            <a:extLst>
              <a:ext uri="{FF2B5EF4-FFF2-40B4-BE49-F238E27FC236}">
                <a16:creationId xmlns:a16="http://schemas.microsoft.com/office/drawing/2014/main" id="{4CA97376-0CA0-ABA5-4E37-025A197A29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8596" y="2803100"/>
            <a:ext cx="540000" cy="5400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1EC5679-A292-4E6E-4BB2-5F59C8FBE4D4}"/>
              </a:ext>
            </a:extLst>
          </p:cNvPr>
          <p:cNvGrpSpPr/>
          <p:nvPr/>
        </p:nvGrpSpPr>
        <p:grpSpPr>
          <a:xfrm>
            <a:off x="658206" y="3384176"/>
            <a:ext cx="7823045" cy="337094"/>
            <a:chOff x="664475" y="3330385"/>
            <a:chExt cx="7823045" cy="33709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C6DCA07-2929-B179-6261-63ECB5B9813D}"/>
                </a:ext>
              </a:extLst>
            </p:cNvPr>
            <p:cNvSpPr/>
            <p:nvPr/>
          </p:nvSpPr>
          <p:spPr>
            <a:xfrm>
              <a:off x="664475" y="3330385"/>
              <a:ext cx="1185309" cy="337094"/>
            </a:xfrm>
            <a:custGeom>
              <a:avLst/>
              <a:gdLst>
                <a:gd name="csX0" fmla="*/ 0 w 1185309"/>
                <a:gd name="csY0" fmla="*/ 33709 h 337094"/>
                <a:gd name="csX1" fmla="*/ 33709 w 1185309"/>
                <a:gd name="csY1" fmla="*/ 0 h 337094"/>
                <a:gd name="csX2" fmla="*/ 1151600 w 1185309"/>
                <a:gd name="csY2" fmla="*/ 0 h 337094"/>
                <a:gd name="csX3" fmla="*/ 1185309 w 1185309"/>
                <a:gd name="csY3" fmla="*/ 33709 h 337094"/>
                <a:gd name="csX4" fmla="*/ 1185309 w 1185309"/>
                <a:gd name="csY4" fmla="*/ 303385 h 337094"/>
                <a:gd name="csX5" fmla="*/ 1151600 w 1185309"/>
                <a:gd name="csY5" fmla="*/ 337094 h 337094"/>
                <a:gd name="csX6" fmla="*/ 33709 w 1185309"/>
                <a:gd name="csY6" fmla="*/ 337094 h 337094"/>
                <a:gd name="csX7" fmla="*/ 0 w 1185309"/>
                <a:gd name="csY7" fmla="*/ 303385 h 337094"/>
                <a:gd name="csX8" fmla="*/ 0 w 1185309"/>
                <a:gd name="csY8" fmla="*/ 33709 h 33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5309" h="337094">
                  <a:moveTo>
                    <a:pt x="0" y="33709"/>
                  </a:moveTo>
                  <a:cubicBezTo>
                    <a:pt x="0" y="15092"/>
                    <a:pt x="15092" y="0"/>
                    <a:pt x="33709" y="0"/>
                  </a:cubicBezTo>
                  <a:lnTo>
                    <a:pt x="1151600" y="0"/>
                  </a:lnTo>
                  <a:cubicBezTo>
                    <a:pt x="1170217" y="0"/>
                    <a:pt x="1185309" y="15092"/>
                    <a:pt x="1185309" y="33709"/>
                  </a:cubicBezTo>
                  <a:lnTo>
                    <a:pt x="1185309" y="303385"/>
                  </a:lnTo>
                  <a:cubicBezTo>
                    <a:pt x="1185309" y="322002"/>
                    <a:pt x="1170217" y="337094"/>
                    <a:pt x="1151600" y="337094"/>
                  </a:cubicBezTo>
                  <a:lnTo>
                    <a:pt x="33709" y="337094"/>
                  </a:lnTo>
                  <a:cubicBezTo>
                    <a:pt x="15092" y="337094"/>
                    <a:pt x="0" y="322002"/>
                    <a:pt x="0" y="303385"/>
                  </a:cubicBezTo>
                  <a:lnTo>
                    <a:pt x="0" y="33709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4163" tIns="44163" rIns="44163" bIns="44163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Analisis</a:t>
              </a:r>
              <a:r>
                <a:rPr lang="en-US" sz="900" kern="12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 Tren Longitudinal</a:t>
              </a:r>
              <a:endParaRPr lang="en-ID" sz="900" kern="120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1252BDB-EC9C-051C-3D7C-2F71FA33791A}"/>
                </a:ext>
              </a:extLst>
            </p:cNvPr>
            <p:cNvSpPr/>
            <p:nvPr/>
          </p:nvSpPr>
          <p:spPr>
            <a:xfrm>
              <a:off x="2323909" y="3330385"/>
              <a:ext cx="1185309" cy="337094"/>
            </a:xfrm>
            <a:custGeom>
              <a:avLst/>
              <a:gdLst>
                <a:gd name="csX0" fmla="*/ 0 w 1185309"/>
                <a:gd name="csY0" fmla="*/ 33709 h 337094"/>
                <a:gd name="csX1" fmla="*/ 33709 w 1185309"/>
                <a:gd name="csY1" fmla="*/ 0 h 337094"/>
                <a:gd name="csX2" fmla="*/ 1151600 w 1185309"/>
                <a:gd name="csY2" fmla="*/ 0 h 337094"/>
                <a:gd name="csX3" fmla="*/ 1185309 w 1185309"/>
                <a:gd name="csY3" fmla="*/ 33709 h 337094"/>
                <a:gd name="csX4" fmla="*/ 1185309 w 1185309"/>
                <a:gd name="csY4" fmla="*/ 303385 h 337094"/>
                <a:gd name="csX5" fmla="*/ 1151600 w 1185309"/>
                <a:gd name="csY5" fmla="*/ 337094 h 337094"/>
                <a:gd name="csX6" fmla="*/ 33709 w 1185309"/>
                <a:gd name="csY6" fmla="*/ 337094 h 337094"/>
                <a:gd name="csX7" fmla="*/ 0 w 1185309"/>
                <a:gd name="csY7" fmla="*/ 303385 h 337094"/>
                <a:gd name="csX8" fmla="*/ 0 w 1185309"/>
                <a:gd name="csY8" fmla="*/ 33709 h 33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5309" h="337094">
                  <a:moveTo>
                    <a:pt x="0" y="33709"/>
                  </a:moveTo>
                  <a:cubicBezTo>
                    <a:pt x="0" y="15092"/>
                    <a:pt x="15092" y="0"/>
                    <a:pt x="33709" y="0"/>
                  </a:cubicBezTo>
                  <a:lnTo>
                    <a:pt x="1151600" y="0"/>
                  </a:lnTo>
                  <a:cubicBezTo>
                    <a:pt x="1170217" y="0"/>
                    <a:pt x="1185309" y="15092"/>
                    <a:pt x="1185309" y="33709"/>
                  </a:cubicBezTo>
                  <a:lnTo>
                    <a:pt x="1185309" y="303385"/>
                  </a:lnTo>
                  <a:cubicBezTo>
                    <a:pt x="1185309" y="322002"/>
                    <a:pt x="1170217" y="337094"/>
                    <a:pt x="1151600" y="337094"/>
                  </a:cubicBezTo>
                  <a:lnTo>
                    <a:pt x="33709" y="337094"/>
                  </a:lnTo>
                  <a:cubicBezTo>
                    <a:pt x="15092" y="337094"/>
                    <a:pt x="0" y="322002"/>
                    <a:pt x="0" y="303385"/>
                  </a:cubicBezTo>
                  <a:lnTo>
                    <a:pt x="0" y="33709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4163" tIns="44163" rIns="44163" bIns="44163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>
                  <a:latin typeface="Arial" pitchFamily="34" charset="0"/>
                  <a:ea typeface="Arial" pitchFamily="34" charset="-122"/>
                  <a:cs typeface="Arial" pitchFamily="34" charset="-120"/>
                </a:rPr>
                <a:t>Visualisasi Budget Flow</a:t>
              </a:r>
              <a:endParaRPr lang="en-ID" sz="900" kern="12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5220C09-7E28-C171-92E7-E4C6EDCB41D9}"/>
                </a:ext>
              </a:extLst>
            </p:cNvPr>
            <p:cNvSpPr/>
            <p:nvPr/>
          </p:nvSpPr>
          <p:spPr>
            <a:xfrm>
              <a:off x="3983343" y="3330385"/>
              <a:ext cx="1185309" cy="337094"/>
            </a:xfrm>
            <a:custGeom>
              <a:avLst/>
              <a:gdLst>
                <a:gd name="csX0" fmla="*/ 0 w 1185309"/>
                <a:gd name="csY0" fmla="*/ 33709 h 337094"/>
                <a:gd name="csX1" fmla="*/ 33709 w 1185309"/>
                <a:gd name="csY1" fmla="*/ 0 h 337094"/>
                <a:gd name="csX2" fmla="*/ 1151600 w 1185309"/>
                <a:gd name="csY2" fmla="*/ 0 h 337094"/>
                <a:gd name="csX3" fmla="*/ 1185309 w 1185309"/>
                <a:gd name="csY3" fmla="*/ 33709 h 337094"/>
                <a:gd name="csX4" fmla="*/ 1185309 w 1185309"/>
                <a:gd name="csY4" fmla="*/ 303385 h 337094"/>
                <a:gd name="csX5" fmla="*/ 1151600 w 1185309"/>
                <a:gd name="csY5" fmla="*/ 337094 h 337094"/>
                <a:gd name="csX6" fmla="*/ 33709 w 1185309"/>
                <a:gd name="csY6" fmla="*/ 337094 h 337094"/>
                <a:gd name="csX7" fmla="*/ 0 w 1185309"/>
                <a:gd name="csY7" fmla="*/ 303385 h 337094"/>
                <a:gd name="csX8" fmla="*/ 0 w 1185309"/>
                <a:gd name="csY8" fmla="*/ 33709 h 33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5309" h="337094">
                  <a:moveTo>
                    <a:pt x="0" y="33709"/>
                  </a:moveTo>
                  <a:cubicBezTo>
                    <a:pt x="0" y="15092"/>
                    <a:pt x="15092" y="0"/>
                    <a:pt x="33709" y="0"/>
                  </a:cubicBezTo>
                  <a:lnTo>
                    <a:pt x="1151600" y="0"/>
                  </a:lnTo>
                  <a:cubicBezTo>
                    <a:pt x="1170217" y="0"/>
                    <a:pt x="1185309" y="15092"/>
                    <a:pt x="1185309" y="33709"/>
                  </a:cubicBezTo>
                  <a:lnTo>
                    <a:pt x="1185309" y="303385"/>
                  </a:lnTo>
                  <a:cubicBezTo>
                    <a:pt x="1185309" y="322002"/>
                    <a:pt x="1170217" y="337094"/>
                    <a:pt x="1151600" y="337094"/>
                  </a:cubicBezTo>
                  <a:lnTo>
                    <a:pt x="33709" y="337094"/>
                  </a:lnTo>
                  <a:cubicBezTo>
                    <a:pt x="15092" y="337094"/>
                    <a:pt x="0" y="322002"/>
                    <a:pt x="0" y="303385"/>
                  </a:cubicBezTo>
                  <a:lnTo>
                    <a:pt x="0" y="33709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4163" tIns="44163" rIns="44163" bIns="44163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>
                  <a:latin typeface="Arial" pitchFamily="34" charset="0"/>
                  <a:ea typeface="Arial" pitchFamily="34" charset="-122"/>
                  <a:cs typeface="Arial" pitchFamily="34" charset="-120"/>
                </a:rPr>
                <a:t>Perbandingan Pagu vs Realisasi</a:t>
              </a:r>
              <a:endParaRPr lang="en-ID" sz="900" kern="120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E6777B-3DAC-0FE1-E81A-C82B3AB935AF}"/>
                </a:ext>
              </a:extLst>
            </p:cNvPr>
            <p:cNvSpPr/>
            <p:nvPr/>
          </p:nvSpPr>
          <p:spPr>
            <a:xfrm>
              <a:off x="5642777" y="3330385"/>
              <a:ext cx="1185309" cy="337094"/>
            </a:xfrm>
            <a:custGeom>
              <a:avLst/>
              <a:gdLst>
                <a:gd name="csX0" fmla="*/ 0 w 1185309"/>
                <a:gd name="csY0" fmla="*/ 33709 h 337094"/>
                <a:gd name="csX1" fmla="*/ 33709 w 1185309"/>
                <a:gd name="csY1" fmla="*/ 0 h 337094"/>
                <a:gd name="csX2" fmla="*/ 1151600 w 1185309"/>
                <a:gd name="csY2" fmla="*/ 0 h 337094"/>
                <a:gd name="csX3" fmla="*/ 1185309 w 1185309"/>
                <a:gd name="csY3" fmla="*/ 33709 h 337094"/>
                <a:gd name="csX4" fmla="*/ 1185309 w 1185309"/>
                <a:gd name="csY4" fmla="*/ 303385 h 337094"/>
                <a:gd name="csX5" fmla="*/ 1151600 w 1185309"/>
                <a:gd name="csY5" fmla="*/ 337094 h 337094"/>
                <a:gd name="csX6" fmla="*/ 33709 w 1185309"/>
                <a:gd name="csY6" fmla="*/ 337094 h 337094"/>
                <a:gd name="csX7" fmla="*/ 0 w 1185309"/>
                <a:gd name="csY7" fmla="*/ 303385 h 337094"/>
                <a:gd name="csX8" fmla="*/ 0 w 1185309"/>
                <a:gd name="csY8" fmla="*/ 33709 h 33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5309" h="337094">
                  <a:moveTo>
                    <a:pt x="0" y="33709"/>
                  </a:moveTo>
                  <a:cubicBezTo>
                    <a:pt x="0" y="15092"/>
                    <a:pt x="15092" y="0"/>
                    <a:pt x="33709" y="0"/>
                  </a:cubicBezTo>
                  <a:lnTo>
                    <a:pt x="1151600" y="0"/>
                  </a:lnTo>
                  <a:cubicBezTo>
                    <a:pt x="1170217" y="0"/>
                    <a:pt x="1185309" y="15092"/>
                    <a:pt x="1185309" y="33709"/>
                  </a:cubicBezTo>
                  <a:lnTo>
                    <a:pt x="1185309" y="303385"/>
                  </a:lnTo>
                  <a:cubicBezTo>
                    <a:pt x="1185309" y="322002"/>
                    <a:pt x="1170217" y="337094"/>
                    <a:pt x="1151600" y="337094"/>
                  </a:cubicBezTo>
                  <a:lnTo>
                    <a:pt x="33709" y="337094"/>
                  </a:lnTo>
                  <a:cubicBezTo>
                    <a:pt x="15092" y="337094"/>
                    <a:pt x="0" y="322002"/>
                    <a:pt x="0" y="303385"/>
                  </a:cubicBezTo>
                  <a:lnTo>
                    <a:pt x="0" y="33709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4163" tIns="44163" rIns="44163" bIns="44163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>
                  <a:latin typeface="Arial" pitchFamily="34" charset="0"/>
                  <a:ea typeface="Arial" pitchFamily="34" charset="-122"/>
                  <a:cs typeface="Arial" pitchFamily="34" charset="-120"/>
                </a:rPr>
                <a:t>Drill-Down Klasifikasi</a:t>
              </a:r>
              <a:endParaRPr lang="en-ID" sz="900" kern="12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1566293-3685-9FCA-4608-677E493A1452}"/>
                </a:ext>
              </a:extLst>
            </p:cNvPr>
            <p:cNvSpPr/>
            <p:nvPr/>
          </p:nvSpPr>
          <p:spPr>
            <a:xfrm>
              <a:off x="7302211" y="3330385"/>
              <a:ext cx="1185309" cy="337094"/>
            </a:xfrm>
            <a:custGeom>
              <a:avLst/>
              <a:gdLst>
                <a:gd name="csX0" fmla="*/ 0 w 1185309"/>
                <a:gd name="csY0" fmla="*/ 33709 h 337094"/>
                <a:gd name="csX1" fmla="*/ 33709 w 1185309"/>
                <a:gd name="csY1" fmla="*/ 0 h 337094"/>
                <a:gd name="csX2" fmla="*/ 1151600 w 1185309"/>
                <a:gd name="csY2" fmla="*/ 0 h 337094"/>
                <a:gd name="csX3" fmla="*/ 1185309 w 1185309"/>
                <a:gd name="csY3" fmla="*/ 33709 h 337094"/>
                <a:gd name="csX4" fmla="*/ 1185309 w 1185309"/>
                <a:gd name="csY4" fmla="*/ 303385 h 337094"/>
                <a:gd name="csX5" fmla="*/ 1151600 w 1185309"/>
                <a:gd name="csY5" fmla="*/ 337094 h 337094"/>
                <a:gd name="csX6" fmla="*/ 33709 w 1185309"/>
                <a:gd name="csY6" fmla="*/ 337094 h 337094"/>
                <a:gd name="csX7" fmla="*/ 0 w 1185309"/>
                <a:gd name="csY7" fmla="*/ 303385 h 337094"/>
                <a:gd name="csX8" fmla="*/ 0 w 1185309"/>
                <a:gd name="csY8" fmla="*/ 33709 h 33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5309" h="337094">
                  <a:moveTo>
                    <a:pt x="0" y="33709"/>
                  </a:moveTo>
                  <a:cubicBezTo>
                    <a:pt x="0" y="15092"/>
                    <a:pt x="15092" y="0"/>
                    <a:pt x="33709" y="0"/>
                  </a:cubicBezTo>
                  <a:lnTo>
                    <a:pt x="1151600" y="0"/>
                  </a:lnTo>
                  <a:cubicBezTo>
                    <a:pt x="1170217" y="0"/>
                    <a:pt x="1185309" y="15092"/>
                    <a:pt x="1185309" y="33709"/>
                  </a:cubicBezTo>
                  <a:lnTo>
                    <a:pt x="1185309" y="303385"/>
                  </a:lnTo>
                  <a:cubicBezTo>
                    <a:pt x="1185309" y="322002"/>
                    <a:pt x="1170217" y="337094"/>
                    <a:pt x="1151600" y="337094"/>
                  </a:cubicBezTo>
                  <a:lnTo>
                    <a:pt x="33709" y="337094"/>
                  </a:lnTo>
                  <a:cubicBezTo>
                    <a:pt x="15092" y="337094"/>
                    <a:pt x="0" y="322002"/>
                    <a:pt x="0" y="303385"/>
                  </a:cubicBezTo>
                  <a:lnTo>
                    <a:pt x="0" y="33709"/>
                  </a:lnTo>
                  <a:close/>
                </a:path>
              </a:pathLst>
            </a:custGeom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4163" tIns="44163" rIns="44163" bIns="44163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>
                  <a:latin typeface="Arial" pitchFamily="34" charset="0"/>
                  <a:ea typeface="Arial" pitchFamily="34" charset="-122"/>
                  <a:cs typeface="Arial" pitchFamily="34" charset="-120"/>
                </a:rPr>
                <a:t>Monitoring Perubahan Data</a:t>
              </a:r>
              <a:endParaRPr lang="en-ID" sz="900" kern="1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6CC1D725-2EAA-CE69-F4EE-EA83898561C6}"/>
              </a:ext>
            </a:extLst>
          </p:cNvPr>
          <p:cNvSpPr/>
          <p:nvPr/>
        </p:nvSpPr>
        <p:spPr>
          <a:xfrm>
            <a:off x="4365321" y="0"/>
            <a:ext cx="4778679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47829" y="1101543"/>
            <a:ext cx="4044341" cy="3386153"/>
          </a:xfrm>
          <a:prstGeom prst="roundRect">
            <a:avLst>
              <a:gd name="adj" fmla="val 3138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B15640-A2CB-4E07-574D-78B66A2B1975}"/>
              </a:ext>
            </a:extLst>
          </p:cNvPr>
          <p:cNvGrpSpPr/>
          <p:nvPr/>
        </p:nvGrpSpPr>
        <p:grpSpPr>
          <a:xfrm>
            <a:off x="280000" y="1269432"/>
            <a:ext cx="3780000" cy="3059640"/>
            <a:chOff x="1083502" y="1092231"/>
            <a:chExt cx="3780000" cy="3652159"/>
          </a:xfrm>
        </p:grpSpPr>
        <p:sp>
          <p:nvSpPr>
            <p:cNvPr id="20" name="Straight Connector 19">
              <a:extLst>
                <a:ext uri="{FF2B5EF4-FFF2-40B4-BE49-F238E27FC236}">
                  <a16:creationId xmlns:a16="http://schemas.microsoft.com/office/drawing/2014/main" id="{15E91D28-41D3-D1B7-CD6D-8D8E1332543D}"/>
                </a:ext>
              </a:extLst>
            </p:cNvPr>
            <p:cNvSpPr/>
            <p:nvPr/>
          </p:nvSpPr>
          <p:spPr>
            <a:xfrm>
              <a:off x="1083502" y="1092231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2560CE-81FD-ADF3-0AA1-30DAA97B992A}"/>
                </a:ext>
              </a:extLst>
            </p:cNvPr>
            <p:cNvSpPr/>
            <p:nvPr/>
          </p:nvSpPr>
          <p:spPr>
            <a:xfrm>
              <a:off x="1143509" y="1127014"/>
              <a:ext cx="1317855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 err="1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Sumber</a:t>
              </a:r>
              <a:r>
                <a:rPr lang="en-US" sz="1200" b="1" kern="1200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Data</a:t>
              </a:r>
              <a:endParaRPr lang="en-ID" sz="1200" kern="12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D981D-F161-3F6A-5C3E-CA67EB817E5B}"/>
                </a:ext>
              </a:extLst>
            </p:cNvPr>
            <p:cNvSpPr/>
            <p:nvPr/>
          </p:nvSpPr>
          <p:spPr>
            <a:xfrm>
              <a:off x="2461364" y="1127014"/>
              <a:ext cx="2398736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Platform Bidja (bidja.kemenkeu.go.id)</a:t>
              </a:r>
              <a:endParaRPr lang="en-ID" sz="1200" kern="1200" dirty="0"/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13A1C8EA-FD15-E04A-4DB6-6A10B152B8D8}"/>
                </a:ext>
              </a:extLst>
            </p:cNvPr>
            <p:cNvSpPr/>
            <p:nvPr/>
          </p:nvSpPr>
          <p:spPr>
            <a:xfrm>
              <a:off x="1083502" y="1822663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5E9E00-AAF2-6FED-8EE0-B79099290DEB}"/>
                </a:ext>
              </a:extLst>
            </p:cNvPr>
            <p:cNvSpPr/>
            <p:nvPr/>
          </p:nvSpPr>
          <p:spPr>
            <a:xfrm>
              <a:off x="1143509" y="1857446"/>
              <a:ext cx="1317855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 err="1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Periode</a:t>
              </a:r>
              <a:r>
                <a:rPr lang="en-US" sz="1200" b="1" kern="1200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Data</a:t>
              </a:r>
              <a:endParaRPr lang="en-ID" sz="1200" kern="12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883D39D-EBF5-D952-C11D-3E50F3DFC03B}"/>
                </a:ext>
              </a:extLst>
            </p:cNvPr>
            <p:cNvSpPr/>
            <p:nvPr/>
          </p:nvSpPr>
          <p:spPr>
            <a:xfrm>
              <a:off x="2461364" y="1857446"/>
              <a:ext cx="2398736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Tahun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Anggaran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2023 - 2026</a:t>
              </a:r>
              <a:endParaRPr lang="en-ID" sz="1200" kern="1200" dirty="0"/>
            </a:p>
          </p:txBody>
        </p:sp>
        <p:sp>
          <p:nvSpPr>
            <p:cNvPr id="27" name="Straight Connector 26">
              <a:extLst>
                <a:ext uri="{FF2B5EF4-FFF2-40B4-BE49-F238E27FC236}">
                  <a16:creationId xmlns:a16="http://schemas.microsoft.com/office/drawing/2014/main" id="{1FF9879C-E8D4-BFCF-804A-315146827874}"/>
                </a:ext>
              </a:extLst>
            </p:cNvPr>
            <p:cNvSpPr/>
            <p:nvPr/>
          </p:nvSpPr>
          <p:spPr>
            <a:xfrm>
              <a:off x="1083502" y="2553095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F9618F-5A96-49D5-AB11-379393381DE2}"/>
                </a:ext>
              </a:extLst>
            </p:cNvPr>
            <p:cNvSpPr/>
            <p:nvPr/>
          </p:nvSpPr>
          <p:spPr>
            <a:xfrm>
              <a:off x="1143509" y="2587877"/>
              <a:ext cx="1317855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 err="1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Klasifikasi</a:t>
              </a:r>
              <a:endParaRPr lang="en-ID" sz="1200" kern="120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98141EF-134B-801D-F31F-3E63877D905A}"/>
                </a:ext>
              </a:extLst>
            </p:cNvPr>
            <p:cNvSpPr/>
            <p:nvPr/>
          </p:nvSpPr>
          <p:spPr>
            <a:xfrm>
              <a:off x="2461364" y="2587877"/>
              <a:ext cx="2398736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Fungsi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Sub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Fungsi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Program,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Kegiatan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Output,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Komponen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Jenis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Belanja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Akun, K/L,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Satker</a:t>
              </a:r>
              <a:endParaRPr lang="en-ID" sz="1200" kern="1200" dirty="0"/>
            </a:p>
          </p:txBody>
        </p:sp>
        <p:sp>
          <p:nvSpPr>
            <p:cNvPr id="30" name="Straight Connector 29">
              <a:extLst>
                <a:ext uri="{FF2B5EF4-FFF2-40B4-BE49-F238E27FC236}">
                  <a16:creationId xmlns:a16="http://schemas.microsoft.com/office/drawing/2014/main" id="{83E4F82B-967A-8013-DE21-1F2821855022}"/>
                </a:ext>
              </a:extLst>
            </p:cNvPr>
            <p:cNvSpPr/>
            <p:nvPr/>
          </p:nvSpPr>
          <p:spPr>
            <a:xfrm>
              <a:off x="1083502" y="3283527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37F918-032F-BB93-7A05-A273210D926B}"/>
                </a:ext>
              </a:extLst>
            </p:cNvPr>
            <p:cNvSpPr/>
            <p:nvPr/>
          </p:nvSpPr>
          <p:spPr>
            <a:xfrm>
              <a:off x="1143509" y="3318309"/>
              <a:ext cx="1317855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 err="1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Metrik</a:t>
              </a:r>
              <a:r>
                <a:rPr lang="en-US" sz="1200" b="1" kern="1200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kern="1200" dirty="0" err="1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Anggaran</a:t>
              </a:r>
              <a:endParaRPr lang="en-ID" sz="1200" kern="120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E6845E-E03A-F00E-047C-FCA96D90FC36}"/>
                </a:ext>
              </a:extLst>
            </p:cNvPr>
            <p:cNvSpPr/>
            <p:nvPr/>
          </p:nvSpPr>
          <p:spPr>
            <a:xfrm>
              <a:off x="2461364" y="3318309"/>
              <a:ext cx="2398736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Realisasi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Belanja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Pagu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DIPA (Awal,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Revisi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Efektif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Blokir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Pagu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Himpunan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Pagu</a:t>
              </a:r>
              <a:r>
                <a:rPr lang="en-US" sz="1200" kern="1200" dirty="0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kern="1200" dirty="0" err="1">
                  <a:solidFill>
                    <a:srgbClr val="4A556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Perpres</a:t>
              </a:r>
              <a:endParaRPr lang="en-ID" sz="1200" kern="1200" dirty="0"/>
            </a:p>
          </p:txBody>
        </p:sp>
        <p:sp>
          <p:nvSpPr>
            <p:cNvPr id="33" name="Straight Connector 32">
              <a:extLst>
                <a:ext uri="{FF2B5EF4-FFF2-40B4-BE49-F238E27FC236}">
                  <a16:creationId xmlns:a16="http://schemas.microsoft.com/office/drawing/2014/main" id="{AD67B882-5F90-89E9-53A9-05DD83E87F7A}"/>
                </a:ext>
              </a:extLst>
            </p:cNvPr>
            <p:cNvSpPr/>
            <p:nvPr/>
          </p:nvSpPr>
          <p:spPr>
            <a:xfrm>
              <a:off x="1083502" y="4013958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76BFDE4-B079-D9EE-F5C4-3BB5B80DDDB5}"/>
                </a:ext>
              </a:extLst>
            </p:cNvPr>
            <p:cNvSpPr/>
            <p:nvPr/>
          </p:nvSpPr>
          <p:spPr>
            <a:xfrm>
              <a:off x="1143509" y="4048741"/>
              <a:ext cx="1317855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Output</a:t>
              </a:r>
              <a:endParaRPr lang="en-ID" sz="1200" kern="120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EA670D6-6BED-7BB1-1000-CC789F68C70B}"/>
                </a:ext>
              </a:extLst>
            </p:cNvPr>
            <p:cNvSpPr/>
            <p:nvPr/>
          </p:nvSpPr>
          <p:spPr>
            <a:xfrm>
              <a:off x="2461364" y="4048741"/>
              <a:ext cx="2398736" cy="695649"/>
            </a:xfrm>
            <a:custGeom>
              <a:avLst/>
              <a:gdLst>
                <a:gd name="csX0" fmla="*/ 0 w 1540192"/>
                <a:gd name="csY0" fmla="*/ 0 h 695649"/>
                <a:gd name="csX1" fmla="*/ 1540192 w 1540192"/>
                <a:gd name="csY1" fmla="*/ 0 h 695649"/>
                <a:gd name="csX2" fmla="*/ 1540192 w 1540192"/>
                <a:gd name="csY2" fmla="*/ 695649 h 695649"/>
                <a:gd name="csX3" fmla="*/ 0 w 1540192"/>
                <a:gd name="csY3" fmla="*/ 695649 h 695649"/>
                <a:gd name="csX4" fmla="*/ 0 w 1540192"/>
                <a:gd name="csY4" fmla="*/ 0 h 69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0192" h="695649">
                  <a:moveTo>
                    <a:pt x="0" y="0"/>
                  </a:moveTo>
                  <a:lnTo>
                    <a:pt x="1540192" y="0"/>
                  </a:lnTo>
                  <a:lnTo>
                    <a:pt x="1540192" y="695649"/>
                  </a:lnTo>
                  <a:lnTo>
                    <a:pt x="0" y="6956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 Modul dashboard </a:t>
              </a:r>
              <a:r>
                <a:rPr lang="en-US" sz="1200" b="1" kern="1200" dirty="0" err="1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interaktif</a:t>
              </a:r>
              <a:r>
                <a:rPr lang="en-US" sz="1200" b="1" kern="1200" dirty="0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kern="1200" dirty="0" err="1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sebagai</a:t>
              </a:r>
              <a:r>
                <a:rPr lang="en-US" sz="1200" b="1" kern="1200" dirty="0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i="1" kern="1200" dirty="0">
                  <a:solidFill>
                    <a:srgbClr val="2C7A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proof of concept</a:t>
              </a:r>
              <a:endParaRPr lang="en-ID" sz="1200" i="1" kern="1200" dirty="0"/>
            </a:p>
          </p:txBody>
        </p:sp>
        <p:sp>
          <p:nvSpPr>
            <p:cNvPr id="36" name="Straight Connector 35">
              <a:extLst>
                <a:ext uri="{FF2B5EF4-FFF2-40B4-BE49-F238E27FC236}">
                  <a16:creationId xmlns:a16="http://schemas.microsoft.com/office/drawing/2014/main" id="{36288BD7-1E7B-D230-1122-EE0A686B8861}"/>
                </a:ext>
              </a:extLst>
            </p:cNvPr>
            <p:cNvSpPr/>
            <p:nvPr/>
          </p:nvSpPr>
          <p:spPr>
            <a:xfrm>
              <a:off x="1083502" y="4744390"/>
              <a:ext cx="3780000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</p:grpSp>
      <p:sp>
        <p:nvSpPr>
          <p:cNvPr id="37" name="Text 0">
            <a:extLst>
              <a:ext uri="{FF2B5EF4-FFF2-40B4-BE49-F238E27FC236}">
                <a16:creationId xmlns:a16="http://schemas.microsoft.com/office/drawing/2014/main" id="{C50E6282-1297-AE03-200E-0FD8BDAD02BE}"/>
              </a:ext>
            </a:extLst>
          </p:cNvPr>
          <p:cNvSpPr/>
          <p:nvPr/>
        </p:nvSpPr>
        <p:spPr>
          <a:xfrm>
            <a:off x="147829" y="542234"/>
            <a:ext cx="4044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2250"/>
              </a:spcAft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 </a:t>
            </a:r>
            <a:r>
              <a:rPr lang="en-US" sz="24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Lingkup</a:t>
            </a:r>
            <a:endParaRPr lang="en-US" sz="2400" dirty="0"/>
          </a:p>
        </p:txBody>
      </p:sp>
      <p:sp>
        <p:nvSpPr>
          <p:cNvPr id="38" name="Text 0"/>
          <p:cNvSpPr/>
          <p:nvPr/>
        </p:nvSpPr>
        <p:spPr>
          <a:xfrm>
            <a:off x="4572000" y="555225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Metodologi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Pengembangan</a:t>
            </a:r>
            <a:endParaRPr lang="en-US" sz="2400" b="1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2000" y="1151834"/>
            <a:ext cx="4090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PENDEKATAN: </a:t>
            </a:r>
            <a:r>
              <a:rPr lang="en-US" sz="900" b="1" i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APPLICATION DEVELOPMENT </a:t>
            </a:r>
            <a:r>
              <a:rPr lang="en-US" sz="9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(RAD)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Text 2"/>
          <p:cNvSpPr/>
          <p:nvPr/>
        </p:nvSpPr>
        <p:spPr>
          <a:xfrm>
            <a:off x="4572000" y="1374702"/>
            <a:ext cx="4090226" cy="445745"/>
          </a:xfrm>
          <a:prstGeom prst="roundRect">
            <a:avLst>
              <a:gd name="adj" fmla="val 1056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"/>
          <p:cNvSpPr/>
          <p:nvPr/>
        </p:nvSpPr>
        <p:spPr>
          <a:xfrm>
            <a:off x="4724400" y="1450904"/>
            <a:ext cx="3918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Identifikasi Kebutuhan</a:t>
            </a:r>
            <a:endParaRPr lang="en-US" sz="900" dirty="0"/>
          </a:p>
        </p:txBody>
      </p:sp>
      <p:sp>
        <p:nvSpPr>
          <p:cNvPr id="42" name="Text 4"/>
          <p:cNvSpPr/>
          <p:nvPr/>
        </p:nvSpPr>
        <p:spPr>
          <a:xfrm>
            <a:off x="4724400" y="1629944"/>
            <a:ext cx="391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Observasi dan diskusi dengan pengguna potensial</a:t>
            </a:r>
            <a:endParaRPr lang="en-US" sz="750" dirty="0"/>
          </a:p>
        </p:txBody>
      </p:sp>
      <p:sp>
        <p:nvSpPr>
          <p:cNvPr id="43" name="Text 5"/>
          <p:cNvSpPr/>
          <p:nvPr/>
        </p:nvSpPr>
        <p:spPr>
          <a:xfrm>
            <a:off x="4572000" y="1877597"/>
            <a:ext cx="4090226" cy="445744"/>
          </a:xfrm>
          <a:prstGeom prst="roundRect">
            <a:avLst>
              <a:gd name="adj" fmla="val 1056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6"/>
          <p:cNvSpPr/>
          <p:nvPr/>
        </p:nvSpPr>
        <p:spPr>
          <a:xfrm>
            <a:off x="4724400" y="1925224"/>
            <a:ext cx="3918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Desain Konsep</a:t>
            </a:r>
            <a:endParaRPr lang="en-US" sz="900" dirty="0"/>
          </a:p>
        </p:txBody>
      </p:sp>
      <p:sp>
        <p:nvSpPr>
          <p:cNvPr id="45" name="Text 7"/>
          <p:cNvSpPr/>
          <p:nvPr/>
        </p:nvSpPr>
        <p:spPr>
          <a:xfrm>
            <a:off x="4724400" y="2104264"/>
            <a:ext cx="391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struktur modul dan alur interaksi</a:t>
            </a:r>
            <a:endParaRPr lang="en-US" sz="750" dirty="0"/>
          </a:p>
        </p:txBody>
      </p:sp>
      <p:sp>
        <p:nvSpPr>
          <p:cNvPr id="46" name="Text 8"/>
          <p:cNvSpPr/>
          <p:nvPr/>
        </p:nvSpPr>
        <p:spPr>
          <a:xfrm>
            <a:off x="4572000" y="2375756"/>
            <a:ext cx="4090226" cy="445742"/>
          </a:xfrm>
          <a:prstGeom prst="roundRect">
            <a:avLst>
              <a:gd name="adj" fmla="val 1056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9"/>
          <p:cNvSpPr/>
          <p:nvPr/>
        </p:nvSpPr>
        <p:spPr>
          <a:xfrm>
            <a:off x="4724400" y="2423381"/>
            <a:ext cx="3918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Pengembangan Iteratif</a:t>
            </a:r>
            <a:endParaRPr lang="en-US" sz="900" dirty="0"/>
          </a:p>
        </p:txBody>
      </p:sp>
      <p:sp>
        <p:nvSpPr>
          <p:cNvPr id="48" name="Text 10"/>
          <p:cNvSpPr/>
          <p:nvPr/>
        </p:nvSpPr>
        <p:spPr>
          <a:xfrm>
            <a:off x="4724400" y="2602421"/>
            <a:ext cx="391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modul bertahap dengan </a:t>
            </a:r>
            <a:r>
              <a:rPr lang="en-US" sz="7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berkala</a:t>
            </a:r>
            <a:endParaRPr lang="en-US" sz="750" dirty="0"/>
          </a:p>
        </p:txBody>
      </p:sp>
      <p:sp>
        <p:nvSpPr>
          <p:cNvPr id="49" name="Text 11"/>
          <p:cNvSpPr/>
          <p:nvPr/>
        </p:nvSpPr>
        <p:spPr>
          <a:xfrm>
            <a:off x="4572000" y="2874006"/>
            <a:ext cx="4090226" cy="445742"/>
          </a:xfrm>
          <a:prstGeom prst="roundRect">
            <a:avLst>
              <a:gd name="adj" fmla="val 1056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12"/>
          <p:cNvSpPr/>
          <p:nvPr/>
        </p:nvSpPr>
        <p:spPr>
          <a:xfrm>
            <a:off x="4724400" y="2921631"/>
            <a:ext cx="3918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Validasi Kesesuaian</a:t>
            </a:r>
            <a:endParaRPr lang="en-US" sz="900" dirty="0"/>
          </a:p>
        </p:txBody>
      </p:sp>
      <p:sp>
        <p:nvSpPr>
          <p:cNvPr id="51" name="Text 13"/>
          <p:cNvSpPr/>
          <p:nvPr/>
        </p:nvSpPr>
        <p:spPr>
          <a:xfrm>
            <a:off x="4724400" y="3100671"/>
            <a:ext cx="391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pemenuhan kebutuhan pengguna</a:t>
            </a:r>
            <a:endParaRPr lang="en-US" sz="750" dirty="0"/>
          </a:p>
        </p:txBody>
      </p:sp>
      <p:sp>
        <p:nvSpPr>
          <p:cNvPr id="52" name="Text 14"/>
          <p:cNvSpPr/>
          <p:nvPr/>
        </p:nvSpPr>
        <p:spPr>
          <a:xfrm>
            <a:off x="4572000" y="3399253"/>
            <a:ext cx="4090226" cy="445742"/>
          </a:xfrm>
          <a:prstGeom prst="roundRect">
            <a:avLst>
              <a:gd name="adj" fmla="val 10205"/>
            </a:avLst>
          </a:prstGeom>
          <a:solidFill>
            <a:srgbClr val="E6FFFA"/>
          </a:solidFill>
          <a:ln w="9525">
            <a:solidFill>
              <a:srgbClr val="2C7A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15"/>
          <p:cNvSpPr/>
          <p:nvPr/>
        </p:nvSpPr>
        <p:spPr>
          <a:xfrm>
            <a:off x="4733925" y="3456403"/>
            <a:ext cx="3902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Dokumentasi</a:t>
            </a:r>
            <a:endParaRPr lang="en-US" sz="900" dirty="0"/>
          </a:p>
        </p:txBody>
      </p:sp>
      <p:sp>
        <p:nvSpPr>
          <p:cNvPr id="54" name="Text 16"/>
          <p:cNvSpPr/>
          <p:nvPr/>
        </p:nvSpPr>
        <p:spPr>
          <a:xfrm>
            <a:off x="4733925" y="3635444"/>
            <a:ext cx="3902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laporan dan rekomendasi integrasi</a:t>
            </a:r>
            <a:endParaRPr lang="en-US" sz="75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50F1E995-8799-15DC-B9F4-02D0B287666A}"/>
              </a:ext>
            </a:extLst>
          </p:cNvPr>
          <p:cNvSpPr/>
          <p:nvPr/>
        </p:nvSpPr>
        <p:spPr>
          <a:xfrm>
            <a:off x="4572000" y="4077966"/>
            <a:ext cx="3102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9F917E12-369E-58F9-E65A-EC6FB0F9E0A8}"/>
              </a:ext>
            </a:extLst>
          </p:cNvPr>
          <p:cNvSpPr/>
          <p:nvPr/>
        </p:nvSpPr>
        <p:spPr>
          <a:xfrm>
            <a:off x="4572000" y="4306567"/>
            <a:ext cx="4090226" cy="65670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41247C83-1673-0C0C-FE09-1BF2676009B6}"/>
              </a:ext>
            </a:extLst>
          </p:cNvPr>
          <p:cNvSpPr/>
          <p:nvPr/>
        </p:nvSpPr>
        <p:spPr>
          <a:xfrm>
            <a:off x="4762500" y="4497066"/>
            <a:ext cx="1102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50" dirty="0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0A611A0C-CD92-1D1E-5DF2-BD91064A63B1}"/>
              </a:ext>
            </a:extLst>
          </p:cNvPr>
          <p:cNvSpPr/>
          <p:nvPr/>
        </p:nvSpPr>
        <p:spPr>
          <a:xfrm>
            <a:off x="4762500" y="4649466"/>
            <a:ext cx="1102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1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25" dirty="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A2F82C03-503B-F112-842B-553ACA2050A8}"/>
              </a:ext>
            </a:extLst>
          </p:cNvPr>
          <p:cNvSpPr/>
          <p:nvPr/>
        </p:nvSpPr>
        <p:spPr>
          <a:xfrm>
            <a:off x="6086124" y="4497066"/>
            <a:ext cx="1102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VISUALISASI</a:t>
            </a:r>
            <a:endParaRPr lang="en-US" sz="75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4ED883D0-627A-E11E-F921-0E8E3419B75A}"/>
              </a:ext>
            </a:extLst>
          </p:cNvPr>
          <p:cNvSpPr/>
          <p:nvPr/>
        </p:nvSpPr>
        <p:spPr>
          <a:xfrm>
            <a:off x="6086124" y="4649466"/>
            <a:ext cx="1102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1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125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F927C0E6-43DF-4366-3C8A-7B4730B83CF2}"/>
              </a:ext>
            </a:extLst>
          </p:cNvPr>
          <p:cNvSpPr/>
          <p:nvPr/>
        </p:nvSpPr>
        <p:spPr>
          <a:xfrm>
            <a:off x="7374175" y="4497066"/>
            <a:ext cx="1102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75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82AF802-0AB6-11B8-102E-E6D92FCDBCF0}"/>
              </a:ext>
            </a:extLst>
          </p:cNvPr>
          <p:cNvSpPr/>
          <p:nvPr/>
        </p:nvSpPr>
        <p:spPr>
          <a:xfrm>
            <a:off x="7374175" y="4649466"/>
            <a:ext cx="1102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Pandas, NumPy</a:t>
            </a:r>
            <a:endParaRPr lang="en-US" sz="11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9261" y="2116485"/>
            <a:ext cx="965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576831" y="2607915"/>
            <a:ext cx="399033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</a:t>
            </a:r>
            <a:endParaRPr lang="en-US" sz="3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44141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Kebutuhan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1353741"/>
            <a:ext cx="8001000" cy="401836"/>
          </a:xfrm>
          <a:prstGeom prst="roundRect">
            <a:avLst>
              <a:gd name="adj" fmla="val 1422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468041"/>
            <a:ext cx="2914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00150" y="1468041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dan Budget Flow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48050" y="1474589"/>
            <a:ext cx="30244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gambaran umum dan aliran distribusi anggaran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946077"/>
            <a:ext cx="2914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00150" y="1946077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Tren Longitudinal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48050" y="1952625"/>
            <a:ext cx="3322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Perkembangan multi-tahun dengan CAGR, AAGR, YoY otomatis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2309813"/>
            <a:ext cx="8001000" cy="401836"/>
          </a:xfrm>
          <a:prstGeom prst="roundRect">
            <a:avLst>
              <a:gd name="adj" fmla="val 1422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424113"/>
            <a:ext cx="2914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00150" y="2424113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Pagu vs Realisasi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448050" y="2430661"/>
            <a:ext cx="31800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berbagai versi Pagu dengan Realisasi dan varians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2902148"/>
            <a:ext cx="2914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00150" y="2902148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Klasifikasi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448050" y="2908697"/>
            <a:ext cx="30134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Eksplorasi dari level agregat hingga detail secara interaktif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" y="3265884"/>
            <a:ext cx="8001000" cy="401836"/>
          </a:xfrm>
          <a:prstGeom prst="roundRect">
            <a:avLst>
              <a:gd name="adj" fmla="val 1422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3380184"/>
            <a:ext cx="2914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00150" y="3380184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Perubahan Data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448050" y="3386733"/>
            <a:ext cx="2858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perubahan anggaran antar update 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" y="3972520"/>
            <a:ext cx="8001000" cy="426690"/>
          </a:xfrm>
          <a:prstGeom prst="roundRect">
            <a:avLst>
              <a:gd name="adj" fmla="val 17858"/>
            </a:avLst>
          </a:prstGeom>
          <a:solidFill>
            <a:srgbClr val="2C7A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2000" y="4105870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Prototipe sebagai </a:t>
            </a:r>
            <a:r>
              <a:rPr lang="en-US" sz="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validasi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integrasi ke SatuDJA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63203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Data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1472803"/>
            <a:ext cx="3924300" cy="866477"/>
          </a:xfrm>
          <a:prstGeom prst="roundRect">
            <a:avLst>
              <a:gd name="adj" fmla="val 8794"/>
            </a:avLst>
          </a:prstGeom>
          <a:solidFill>
            <a:srgbClr val="FFF5F5"/>
          </a:solidFill>
          <a:ln w="9525">
            <a:solidFill>
              <a:srgbClr val="FC81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3425" y="1634728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 Data Terbatas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733425" y="1884164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2023-2026. Data 2026 hanya tersedia Pagu Awal, Himpunan, Perpres (tanpa Pagu Revisi dan Realisasi).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648200" y="1472803"/>
            <a:ext cx="3924300" cy="866477"/>
          </a:xfrm>
          <a:prstGeom prst="roundRect">
            <a:avLst>
              <a:gd name="adj" fmla="val 8794"/>
            </a:avLst>
          </a:prstGeom>
          <a:solidFill>
            <a:srgbClr val="FFFAF0"/>
          </a:solidFill>
          <a:ln w="9525">
            <a:solidFill>
              <a:srgbClr val="F6AD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0125" y="1634728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Inkonsistensi Nomenklatur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10125" y="1884164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 nomenklatur program/kegiatan antar tahun. Ditangani dengan tampilan berdasarkan kode klasifikasi.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644080"/>
            <a:ext cx="3924300" cy="866477"/>
          </a:xfrm>
          <a:prstGeom prst="roundRect">
            <a:avLst>
              <a:gd name="adj" fmla="val 8794"/>
            </a:avLst>
          </a:prstGeom>
          <a:solidFill>
            <a:srgbClr val="EBF8FF"/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425" y="2806005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Data Terbatas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33425" y="3055441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hanya menampilkan field yang dipilih sesuai kebutuhan analisis utama.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200" y="2644080"/>
            <a:ext cx="3924300" cy="866477"/>
          </a:xfrm>
          <a:prstGeom prst="roundRect">
            <a:avLst>
              <a:gd name="adj" fmla="val 8794"/>
            </a:avLst>
          </a:prstGeom>
          <a:solidFill>
            <a:srgbClr val="F0FFF4"/>
          </a:solidFill>
          <a:ln w="9525">
            <a:solidFill>
              <a:srgbClr val="68D39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0125" y="2806005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Implikasi Performa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10125" y="3055441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besar berdampak performa prototipe. Di production SatuDJA dengan infrastruktur kuat, dapat teratasi.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815358"/>
            <a:ext cx="8001000" cy="46479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" y="3967758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ini bersifat teknis dan dapat dieliminasi pada implementasi </a:t>
            </a: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SatuDJA dengan integrasi data </a:t>
            </a: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BIDJA.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9261" y="2097435"/>
            <a:ext cx="965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33348" y="2588865"/>
            <a:ext cx="2877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Pembahasan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984" y="756493"/>
            <a:ext cx="42262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Kebutuhan dan Modul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60984" y="1461343"/>
            <a:ext cx="6198818" cy="337096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3384" y="1556593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51534" y="1556593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08934" y="1556593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590084" y="1556593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360984" y="1855589"/>
            <a:ext cx="6198818" cy="3370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13384" y="1950839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51534" y="1950839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Flow</a:t>
            </a:r>
            <a:endParaRPr lang="en-US" sz="825" i="1" dirty="0"/>
          </a:p>
        </p:txBody>
      </p:sp>
      <p:sp>
        <p:nvSpPr>
          <p:cNvPr id="12" name="Text 10"/>
          <p:cNvSpPr/>
          <p:nvPr/>
        </p:nvSpPr>
        <p:spPr>
          <a:xfrm>
            <a:off x="4008934" y="1950839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590084" y="1950839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+ Sankey Diagram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513384" y="2345085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951534" y="2345085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Tren Longitudinal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008934" y="2345085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Analisis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590084" y="2345085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Charts + KPI Metrics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360984" y="2644080"/>
            <a:ext cx="6198818" cy="3370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13384" y="2739330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951534" y="2739330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Pagu vs Realisasi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008934" y="2739330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Komparatif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590084" y="2739330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Dumbbell + Variance Analysis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513384" y="3133576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951534" y="3133576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Klasifikasi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008934" y="3133576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590084" y="3133576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Click-to-Drill 7 Level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360984" y="3432572"/>
            <a:ext cx="6198818" cy="3370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13384" y="3527822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951534" y="3527822"/>
            <a:ext cx="19431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Perubahan Data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008934" y="3527822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590084" y="3527822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Comparison + Delta</a:t>
            </a:r>
            <a:endParaRPr lang="en-US" sz="8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8699" y="291144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 Dashboard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2189857"/>
            <a:ext cx="1493490" cy="1373386"/>
          </a:xfrm>
          <a:prstGeom prst="roundRect">
            <a:avLst>
              <a:gd name="adj" fmla="val 55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" y="2342257"/>
            <a:ext cx="1212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23900" y="2605088"/>
            <a:ext cx="121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 dengan overview kondisi anggaran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23900" y="2986088"/>
            <a:ext cx="1212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723900" y="314414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Dual Axis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23900" y="327749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Sankey Diagram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98340" y="2189857"/>
            <a:ext cx="1493490" cy="1373386"/>
          </a:xfrm>
          <a:prstGeom prst="roundRect">
            <a:avLst>
              <a:gd name="adj" fmla="val 5548"/>
            </a:avLst>
          </a:prstGeom>
          <a:solidFill>
            <a:srgbClr val="2C7A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50740" y="2342257"/>
            <a:ext cx="1212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Analisis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0740" y="2605088"/>
            <a:ext cx="121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tren multi-tahun dengan growth metrics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50740" y="2986088"/>
            <a:ext cx="1212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350740" y="314414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Charts per Kategori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350740" y="327749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/ AAGR / YoY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25180" y="2189857"/>
            <a:ext cx="1493490" cy="1373386"/>
          </a:xfrm>
          <a:prstGeom prst="roundRect">
            <a:avLst>
              <a:gd name="adj" fmla="val 5548"/>
            </a:avLst>
          </a:prstGeom>
          <a:solidFill>
            <a:srgbClr val="553C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77580" y="2342257"/>
            <a:ext cx="1212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Komparatif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580" y="2605088"/>
            <a:ext cx="121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Pagu vs Realisasi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77580" y="2986088"/>
            <a:ext cx="1212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977580" y="314414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Dumbbell Chart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77580" y="327749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Analysis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52021" y="2189857"/>
            <a:ext cx="1493490" cy="1373386"/>
          </a:xfrm>
          <a:prstGeom prst="roundRect">
            <a:avLst>
              <a:gd name="adj" fmla="val 5548"/>
            </a:avLst>
          </a:prstGeom>
          <a:solidFill>
            <a:srgbClr val="C056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04421" y="2342257"/>
            <a:ext cx="1212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04421" y="2605088"/>
            <a:ext cx="121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hierarki klasifikasi anggaran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04421" y="2986088"/>
            <a:ext cx="1212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604421" y="314414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Click-to-Drill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04421" y="327749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Level Hierarki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078861" y="2189857"/>
            <a:ext cx="1493490" cy="1373386"/>
          </a:xfrm>
          <a:prstGeom prst="roundRect">
            <a:avLst>
              <a:gd name="adj" fmla="val 5548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1261" y="2342257"/>
            <a:ext cx="1212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31261" y="2605088"/>
            <a:ext cx="121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perubahan data antar periode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31261" y="2986088"/>
            <a:ext cx="1212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7231261" y="314414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Comparison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31261" y="3277493"/>
            <a:ext cx="1212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Calculation</a:t>
            </a:r>
            <a:endParaRPr lang="en-US" sz="7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EDFAE65-EF7F-D801-182B-07AC79D3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" y="758781"/>
            <a:ext cx="2520000" cy="1253299"/>
          </a:xfrm>
          <a:prstGeom prst="rect">
            <a:avLst/>
          </a:prstGeom>
          <a:ln>
            <a:solidFill>
              <a:srgbClr val="1E3A5F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82BD24E-0727-6649-02FD-82FDBA7A2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085" y="3734896"/>
            <a:ext cx="2520000" cy="1192994"/>
          </a:xfrm>
          <a:prstGeom prst="rect">
            <a:avLst/>
          </a:prstGeom>
          <a:ln>
            <a:solidFill>
              <a:srgbClr val="2C7A7B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B6C569-2D9F-EC24-8B1A-998E0462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925" y="863199"/>
            <a:ext cx="2520000" cy="1148881"/>
          </a:xfrm>
          <a:prstGeom prst="rect">
            <a:avLst/>
          </a:prstGeom>
          <a:ln>
            <a:solidFill>
              <a:srgbClr val="553C9A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D9FFF30-F9CF-F221-3431-343C24E12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766" y="3734896"/>
            <a:ext cx="2520000" cy="1192994"/>
          </a:xfrm>
          <a:prstGeom prst="rect">
            <a:avLst/>
          </a:prstGeom>
          <a:ln>
            <a:solidFill>
              <a:srgbClr val="C0562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66A22E-0D91-1D38-FC0C-1AC94B016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605" y="812107"/>
            <a:ext cx="2520000" cy="1199973"/>
          </a:xfrm>
          <a:prstGeom prst="rect">
            <a:avLst/>
          </a:prstGeom>
          <a:ln>
            <a:solidFill>
              <a:srgbClr val="276749"/>
            </a:solidFill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AA62C7-D6DE-EA44-A001-6810DDB25BE2}"/>
              </a:ext>
            </a:extLst>
          </p:cNvPr>
          <p:cNvCxnSpPr>
            <a:stCxn id="3" idx="0"/>
            <a:endCxn id="33" idx="2"/>
          </p:cNvCxnSpPr>
          <p:nvPr/>
        </p:nvCxnSpPr>
        <p:spPr>
          <a:xfrm flipV="1">
            <a:off x="1318245" y="2012080"/>
            <a:ext cx="0" cy="177777"/>
          </a:xfrm>
          <a:prstGeom prst="straightConnector1">
            <a:avLst/>
          </a:prstGeom>
          <a:ln>
            <a:solidFill>
              <a:srgbClr val="1E3A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D5EFBAB-10C9-F2E7-75DB-D0CDE2F7C233}"/>
              </a:ext>
            </a:extLst>
          </p:cNvPr>
          <p:cNvCxnSpPr>
            <a:stCxn id="9" idx="2"/>
            <a:endCxn id="34" idx="0"/>
          </p:cNvCxnSpPr>
          <p:nvPr/>
        </p:nvCxnSpPr>
        <p:spPr>
          <a:xfrm>
            <a:off x="2945085" y="3563243"/>
            <a:ext cx="0" cy="171653"/>
          </a:xfrm>
          <a:prstGeom prst="straightConnector1">
            <a:avLst/>
          </a:prstGeom>
          <a:ln>
            <a:solidFill>
              <a:srgbClr val="2C7A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8E6824-CFF6-4C31-EB71-BE54ADDF7B33}"/>
              </a:ext>
            </a:extLst>
          </p:cNvPr>
          <p:cNvCxnSpPr>
            <a:stCxn id="15" idx="0"/>
            <a:endCxn id="35" idx="2"/>
          </p:cNvCxnSpPr>
          <p:nvPr/>
        </p:nvCxnSpPr>
        <p:spPr>
          <a:xfrm flipV="1">
            <a:off x="4571925" y="2012080"/>
            <a:ext cx="0" cy="177777"/>
          </a:xfrm>
          <a:prstGeom prst="straightConnector1">
            <a:avLst/>
          </a:prstGeom>
          <a:ln>
            <a:solidFill>
              <a:srgbClr val="553C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C7091A-3D24-5E41-ACD9-FA35CF59F605}"/>
              </a:ext>
            </a:extLst>
          </p:cNvPr>
          <p:cNvCxnSpPr>
            <a:stCxn id="21" idx="2"/>
            <a:endCxn id="36" idx="0"/>
          </p:cNvCxnSpPr>
          <p:nvPr/>
        </p:nvCxnSpPr>
        <p:spPr>
          <a:xfrm>
            <a:off x="6198766" y="3563243"/>
            <a:ext cx="0" cy="171653"/>
          </a:xfrm>
          <a:prstGeom prst="straightConnector1">
            <a:avLst/>
          </a:prstGeom>
          <a:ln>
            <a:solidFill>
              <a:srgbClr val="C056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E8DF4A3-E6AB-1047-7C13-B9A0B31536B8}"/>
              </a:ext>
            </a:extLst>
          </p:cNvPr>
          <p:cNvCxnSpPr>
            <a:stCxn id="27" idx="0"/>
            <a:endCxn id="37" idx="2"/>
          </p:cNvCxnSpPr>
          <p:nvPr/>
        </p:nvCxnSpPr>
        <p:spPr>
          <a:xfrm flipH="1" flipV="1">
            <a:off x="7825605" y="2012080"/>
            <a:ext cx="1" cy="177777"/>
          </a:xfrm>
          <a:prstGeom prst="straightConnector1">
            <a:avLst/>
          </a:prstGeom>
          <a:ln>
            <a:solidFill>
              <a:srgbClr val="2767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2D9D437-5DDF-E938-4212-44392B7354C3}"/>
              </a:ext>
            </a:extLst>
          </p:cNvPr>
          <p:cNvSpPr txBox="1"/>
          <p:nvPr/>
        </p:nvSpPr>
        <p:spPr>
          <a:xfrm>
            <a:off x="4823039" y="1052341"/>
            <a:ext cx="30482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ource Sans 3 Variable"/>
              </a:rPr>
              <a:t>Jika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Source Sans 3 Variable"/>
              </a:rPr>
              <a:t>muncul</a:t>
            </a:r>
            <a:r>
              <a:rPr lang="en-US" b="0" i="0" dirty="0">
                <a:solidFill>
                  <a:srgbClr val="FFFFFF"/>
                </a:solidFill>
                <a:effectLst/>
                <a:latin typeface="Source Sans 3 Variable"/>
              </a:rPr>
              <a:t>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Source Sans 3 Variable"/>
              </a:rPr>
              <a:t>halaman</a:t>
            </a:r>
            <a:r>
              <a:rPr lang="en-US" b="0" i="0" dirty="0">
                <a:solidFill>
                  <a:srgbClr val="FFFFFF"/>
                </a:solidFill>
                <a:effectLst/>
                <a:latin typeface="Source Sans 3 Variable"/>
              </a:rPr>
              <a:t>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Source Sans 3 Variable"/>
              </a:rPr>
              <a:t>berikut</a:t>
            </a:r>
            <a:r>
              <a:rPr lang="en-US" b="0" i="0" dirty="0">
                <a:solidFill>
                  <a:srgbClr val="FFFFFF"/>
                </a:solidFill>
                <a:effectLst/>
                <a:latin typeface="Source Sans 3 Variable"/>
              </a:rPr>
              <a:t>.</a:t>
            </a:r>
          </a:p>
          <a:p>
            <a:endParaRPr lang="en-US" dirty="0">
              <a:solidFill>
                <a:srgbClr val="FFFFFF"/>
              </a:solidFill>
              <a:latin typeface="Source Sans 3 Variable"/>
            </a:endParaRPr>
          </a:p>
          <a:p>
            <a:endParaRPr lang="en-US" b="0" i="0" dirty="0">
              <a:solidFill>
                <a:srgbClr val="FFFFFF"/>
              </a:solidFill>
              <a:effectLst/>
              <a:latin typeface="Source Sans 3 Variable"/>
            </a:endParaRPr>
          </a:p>
          <a:p>
            <a:endParaRPr lang="en-US" dirty="0">
              <a:solidFill>
                <a:srgbClr val="FFFFFF"/>
              </a:solidFill>
              <a:latin typeface="Source Sans 3 Variable"/>
            </a:endParaRPr>
          </a:p>
          <a:p>
            <a:endParaRPr lang="en-US" b="0" i="0" dirty="0">
              <a:solidFill>
                <a:srgbClr val="FFFFFF"/>
              </a:solidFill>
              <a:effectLst/>
              <a:latin typeface="Source Sans 3 Variable"/>
            </a:endParaRPr>
          </a:p>
          <a:p>
            <a:endParaRPr lang="en-US" dirty="0">
              <a:solidFill>
                <a:srgbClr val="FFFFFF"/>
              </a:solidFill>
              <a:latin typeface="Source Sans 3 Variable"/>
            </a:endParaRPr>
          </a:p>
          <a:p>
            <a:endParaRPr lang="en-US" b="0" i="0" dirty="0">
              <a:solidFill>
                <a:srgbClr val="FFFFFF"/>
              </a:solidFill>
              <a:effectLst/>
              <a:latin typeface="Source Sans 3 Variable"/>
            </a:endParaRPr>
          </a:p>
          <a:p>
            <a:r>
              <a:rPr lang="en-US" b="1" dirty="0" err="1"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Source Sans 3 Variable"/>
              </a:rPr>
              <a:t>Klik</a:t>
            </a:r>
            <a:r>
              <a:rPr lang="en-US" dirty="0">
                <a:solidFill>
                  <a:srgbClr val="FFFFFF"/>
                </a:solidFill>
                <a:latin typeface="Source Sans 3 Variable"/>
              </a:rPr>
              <a:t>: </a:t>
            </a:r>
            <a:r>
              <a:rPr lang="en-US" b="0" i="0" dirty="0">
                <a:solidFill>
                  <a:srgbClr val="FFFFFF"/>
                </a:solidFill>
                <a:effectLst/>
                <a:latin typeface="Source Sans 3 Variable"/>
              </a:rPr>
              <a:t>Yes, get this app back up!</a:t>
            </a:r>
            <a:endParaRPr lang="en-ID" dirty="0"/>
          </a:p>
        </p:txBody>
      </p:sp>
      <p:sp>
        <p:nvSpPr>
          <p:cNvPr id="3" name="Text 1"/>
          <p:cNvSpPr/>
          <p:nvPr/>
        </p:nvSpPr>
        <p:spPr>
          <a:xfrm>
            <a:off x="2517172" y="531007"/>
            <a:ext cx="41096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 Dashboard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672399" y="3646370"/>
            <a:ext cx="3799202" cy="3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3000"/>
              </a:spcAft>
              <a:buNone/>
            </a:pPr>
            <a:r>
              <a:rPr lang="en-US" sz="1600" b="1" dirty="0" err="1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</a:t>
            </a: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penggunaan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1142107" y="4056471"/>
            <a:ext cx="1234678" cy="617190"/>
          </a:xfrm>
          <a:prstGeom prst="roundRect">
            <a:avLst>
              <a:gd name="adj" fmla="val 1234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786" y="4199346"/>
            <a:ext cx="85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33786" y="4397436"/>
            <a:ext cx="85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Blokir DIPA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29185" y="4056471"/>
            <a:ext cx="1259681" cy="617190"/>
          </a:xfrm>
          <a:prstGeom prst="roundRect">
            <a:avLst>
              <a:gd name="adj" fmla="val 1234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20614" y="4199346"/>
            <a:ext cx="876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20614" y="4397436"/>
            <a:ext cx="876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Bantuan Sosial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41266" y="4056471"/>
            <a:ext cx="1118443" cy="617190"/>
          </a:xfrm>
          <a:prstGeom prst="roundRect">
            <a:avLst>
              <a:gd name="adj" fmla="val 1234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34107" y="4199346"/>
            <a:ext cx="732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34107" y="4397436"/>
            <a:ext cx="732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Varians Kegiatan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12110" y="4056471"/>
            <a:ext cx="1358354" cy="617190"/>
          </a:xfrm>
          <a:prstGeom prst="roundRect">
            <a:avLst>
              <a:gd name="adj" fmla="val 1234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02552" y="4199346"/>
            <a:ext cx="9774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02552" y="4397436"/>
            <a:ext cx="9774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Pertahanan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22864" y="4056471"/>
            <a:ext cx="1279029" cy="617190"/>
          </a:xfrm>
          <a:prstGeom prst="roundRect">
            <a:avLst>
              <a:gd name="adj" fmla="val 1234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14099" y="4199346"/>
            <a:ext cx="896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14099" y="4397436"/>
            <a:ext cx="896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Kemenag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A02846-11C7-C54C-3BA9-EA5F77C4E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672" y="1479879"/>
            <a:ext cx="2756925" cy="144335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83E68D6-F8B4-165A-DFDB-A4B7263DD48C}"/>
              </a:ext>
            </a:extLst>
          </p:cNvPr>
          <p:cNvGrpSpPr/>
          <p:nvPr/>
        </p:nvGrpSpPr>
        <p:grpSpPr>
          <a:xfrm>
            <a:off x="1272746" y="1770177"/>
            <a:ext cx="3013624" cy="862757"/>
            <a:chOff x="775242" y="1394493"/>
            <a:chExt cx="3013624" cy="862757"/>
          </a:xfrm>
        </p:grpSpPr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55AB93F4-CAAA-96F9-0155-F08B595C4FA5}"/>
                </a:ext>
              </a:extLst>
            </p:cNvPr>
            <p:cNvSpPr/>
            <p:nvPr/>
          </p:nvSpPr>
          <p:spPr>
            <a:xfrm>
              <a:off x="775242" y="1394493"/>
              <a:ext cx="3013624" cy="862757"/>
            </a:xfrm>
            <a:prstGeom prst="roundRect">
              <a:avLst>
                <a:gd name="adj" fmla="val 8832"/>
              </a:avLst>
            </a:prstGeom>
            <a:solidFill>
              <a:srgbClr val="FFFFFF">
                <a:alpha val="10000"/>
              </a:srgbClr>
            </a:solidFill>
            <a:ln w="9525">
              <a:solidFill>
                <a:srgbClr val="FFFFFF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519EE957-1334-E49B-EF33-2122557AFC0E}"/>
                </a:ext>
              </a:extLst>
            </p:cNvPr>
            <p:cNvSpPr/>
            <p:nvPr/>
          </p:nvSpPr>
          <p:spPr>
            <a:xfrm>
              <a:off x="1196591" y="1594518"/>
              <a:ext cx="2291292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55"/>
                </a:lnSpc>
                <a:spcAft>
                  <a:spcPts val="600"/>
                </a:spcAft>
                <a:buNone/>
              </a:pPr>
              <a:r>
                <a:rPr lang="en-US" sz="825" dirty="0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AKSES PROTOTIPE</a:t>
              </a:r>
              <a:endParaRPr lang="en-US" sz="825" dirty="0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01682BFB-2484-2FA5-5A8D-D93CF65BCF35}"/>
                </a:ext>
              </a:extLst>
            </p:cNvPr>
            <p:cNvSpPr/>
            <p:nvPr/>
          </p:nvSpPr>
          <p:spPr>
            <a:xfrm>
              <a:off x="1196591" y="1817313"/>
              <a:ext cx="2291292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90"/>
                </a:lnSpc>
                <a:buNone/>
              </a:pPr>
              <a:r>
                <a:rPr lang="en-US" sz="135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dashanggaran.streamlit.app</a:t>
              </a:r>
              <a:endParaRPr lang="en-US" sz="135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BD4A067-A185-0BDF-A223-F635B1C0D4A6}"/>
              </a:ext>
            </a:extLst>
          </p:cNvPr>
          <p:cNvSpPr/>
          <p:nvPr/>
        </p:nvSpPr>
        <p:spPr>
          <a:xfrm>
            <a:off x="4477798" y="2051243"/>
            <a:ext cx="288356" cy="300624"/>
          </a:xfrm>
          <a:prstGeom prst="rightArrow">
            <a:avLst/>
          </a:prstGeom>
          <a:solidFill>
            <a:srgbClr val="FFFFFF"/>
          </a:solidFill>
          <a:ln>
            <a:solidFill>
              <a:srgbClr val="1C8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4F58E2-6FE7-AB83-EAA8-57F453659439}"/>
              </a:ext>
            </a:extLst>
          </p:cNvPr>
          <p:cNvCxnSpPr>
            <a:cxnSpLocks/>
          </p:cNvCxnSpPr>
          <p:nvPr/>
        </p:nvCxnSpPr>
        <p:spPr>
          <a:xfrm>
            <a:off x="1096027" y="3745282"/>
            <a:ext cx="192900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60E04D-B5DD-7267-F134-DC4B6F3B186A}"/>
              </a:ext>
            </a:extLst>
          </p:cNvPr>
          <p:cNvCxnSpPr>
            <a:cxnSpLocks/>
          </p:cNvCxnSpPr>
          <p:nvPr/>
        </p:nvCxnSpPr>
        <p:spPr>
          <a:xfrm>
            <a:off x="6072884" y="3745282"/>
            <a:ext cx="192900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9261" y="2135535"/>
            <a:ext cx="965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753746" y="2626965"/>
            <a:ext cx="56365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dan Rekomendasi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43235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1252835"/>
            <a:ext cx="8001000" cy="573286"/>
          </a:xfrm>
          <a:prstGeom prst="roundRect">
            <a:avLst>
              <a:gd name="adj" fmla="val 9969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252835"/>
            <a:ext cx="0" cy="573286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62000" y="1298242"/>
            <a:ext cx="78112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Modul Home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1496332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mengungkapkan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musiman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sedangkan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Diagram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Sankey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efektif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mengungkap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tentang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kebijakan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fiskal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921371"/>
            <a:ext cx="8001000" cy="573286"/>
          </a:xfrm>
          <a:prstGeom prst="roundRect">
            <a:avLst>
              <a:gd name="adj" fmla="val 9969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1921371"/>
            <a:ext cx="0" cy="573286"/>
          </a:xfrm>
          <a:prstGeom prst="line">
            <a:avLst/>
          </a:prstGeom>
          <a:noFill/>
          <a:ln w="381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62000" y="2035671"/>
            <a:ext cx="78112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Modul Tren Analisis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233761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Perhitungan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CAGR, AAGR, YoY dan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membantu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mengidentifikasi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volatilitas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restrukturisasi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589907"/>
            <a:ext cx="8001000" cy="573286"/>
          </a:xfrm>
          <a:prstGeom prst="roundRect">
            <a:avLst>
              <a:gd name="adj" fmla="val 9969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2589907"/>
            <a:ext cx="0" cy="573286"/>
          </a:xfrm>
          <a:prstGeom prst="line">
            <a:avLst/>
          </a:prstGeom>
          <a:noFill/>
          <a:ln w="381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762000" y="2704207"/>
            <a:ext cx="78112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 Komparatif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2902297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Dumbbell chart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mengungkap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konsentrasi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varians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kegiatan-kegiatan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tertentu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258443"/>
            <a:ext cx="8001000" cy="573286"/>
          </a:xfrm>
          <a:prstGeom prst="roundRect">
            <a:avLst>
              <a:gd name="adj" fmla="val 9969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0550" y="3258443"/>
            <a:ext cx="0" cy="573286"/>
          </a:xfrm>
          <a:prstGeom prst="line">
            <a:avLst/>
          </a:prstGeom>
          <a:noFill/>
          <a:ln w="381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762000" y="3372743"/>
            <a:ext cx="78112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Modul Klasifikasi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2000" y="3570833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level memungkinkan transparansi alokasi hingga item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926979"/>
            <a:ext cx="8001000" cy="573286"/>
          </a:xfrm>
          <a:prstGeom prst="roundRect">
            <a:avLst>
              <a:gd name="adj" fmla="val 996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0550" y="3926979"/>
            <a:ext cx="0" cy="573286"/>
          </a:xfrm>
          <a:prstGeom prst="line">
            <a:avLst/>
          </a:prstGeom>
          <a:noFill/>
          <a:ln w="381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62000" y="4041279"/>
            <a:ext cx="78112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Modul Monitoring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2000" y="4239369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perubahan efektif mendeteksi aktivitas administratif (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restrukturisasi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nomenklatur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koreksi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minor) yang tidak terlihat di level agregat</a:t>
            </a:r>
            <a:endParaRPr lang="en-US" sz="8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CE56264-9C65-512D-83FF-D34ED450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62" y="164901"/>
            <a:ext cx="2640330" cy="46005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1499" y="312688"/>
            <a:ext cx="8245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1500" y="865138"/>
            <a:ext cx="5084001" cy="617190"/>
          </a:xfrm>
          <a:prstGeom prst="roundRect">
            <a:avLst>
              <a:gd name="adj" fmla="val 926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998488"/>
            <a:ext cx="49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SUMBER DATA</a:t>
            </a:r>
            <a:endParaRPr lang="en-US" sz="1000" b="1" dirty="0"/>
          </a:p>
        </p:txBody>
      </p:sp>
      <p:sp>
        <p:nvSpPr>
          <p:cNvPr id="5" name="Text 3"/>
          <p:cNvSpPr/>
          <p:nvPr/>
        </p:nvSpPr>
        <p:spPr>
          <a:xfrm>
            <a:off x="762000" y="1188988"/>
            <a:ext cx="49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SAKTI | Database SPAN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847999"/>
            <a:ext cx="5084001" cy="617190"/>
          </a:xfrm>
          <a:prstGeom prst="roundRect">
            <a:avLst>
              <a:gd name="adj" fmla="val 9260"/>
            </a:avLst>
          </a:prstGeom>
          <a:solidFill>
            <a:srgbClr val="2C7A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81349"/>
            <a:ext cx="49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INTEGRASI DATA (ETL) - BIDJA DATA WAREHOUSE</a:t>
            </a:r>
            <a:endParaRPr lang="en-US" sz="1000" b="1" dirty="0"/>
          </a:p>
        </p:txBody>
      </p:sp>
      <p:sp>
        <p:nvSpPr>
          <p:cNvPr id="9" name="Text 7"/>
          <p:cNvSpPr/>
          <p:nvPr/>
        </p:nvSpPr>
        <p:spPr>
          <a:xfrm>
            <a:off x="762000" y="2171849"/>
            <a:ext cx="49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Extraction | Data Transformation | Delta Loading | Historical Snapshots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2830860"/>
            <a:ext cx="5084001" cy="617190"/>
          </a:xfrm>
          <a:prstGeom prst="roundRect">
            <a:avLst>
              <a:gd name="adj" fmla="val 9260"/>
            </a:avLst>
          </a:prstGeom>
          <a:solidFill>
            <a:srgbClr val="553C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964210"/>
            <a:ext cx="49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LAYANAN API </a:t>
            </a: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762000" y="3154710"/>
            <a:ext cx="49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GATEWAY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" y="3813721"/>
            <a:ext cx="5084001" cy="617190"/>
          </a:xfrm>
          <a:prstGeom prst="roundRect">
            <a:avLst>
              <a:gd name="adj" fmla="val 9260"/>
            </a:avLst>
          </a:prstGeom>
          <a:solidFill>
            <a:srgbClr val="C056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000" y="3947071"/>
            <a:ext cx="49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VISUALISASI (SATUDJA)</a:t>
            </a:r>
            <a:endParaRPr lang="en-US" sz="1000" b="1" dirty="0"/>
          </a:p>
        </p:txBody>
      </p:sp>
      <p:sp>
        <p:nvSpPr>
          <p:cNvPr id="17" name="Text 15"/>
          <p:cNvSpPr/>
          <p:nvPr/>
        </p:nvSpPr>
        <p:spPr>
          <a:xfrm>
            <a:off x="762000" y="4137571"/>
            <a:ext cx="49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| TREN | KOMPARATIF | KLASIFIKASI | MONITORING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751DC9-0853-4300-4681-FE37BE6B1418}"/>
              </a:ext>
            </a:extLst>
          </p:cNvPr>
          <p:cNvSpPr txBox="1"/>
          <p:nvPr/>
        </p:nvSpPr>
        <p:spPr>
          <a:xfrm>
            <a:off x="6034413" y="4701600"/>
            <a:ext cx="29248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BIDJA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SatuDJA</a:t>
            </a:r>
            <a:endParaRPr lang="en-ID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74638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Pertimbangan Implementasi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1322338"/>
            <a:ext cx="3905250" cy="917972"/>
          </a:xfrm>
          <a:prstGeom prst="roundRect">
            <a:avLst>
              <a:gd name="adj" fmla="val 8301"/>
            </a:avLst>
          </a:prstGeom>
          <a:solidFill>
            <a:srgbClr val="EBF8FF"/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2475" y="150331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Biaya-Manfaat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2475" y="1766143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pengembangan, biaya infrastruktur, dan potensi penghematan perlu dilakukan sebelum implementasi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667250" y="1322338"/>
            <a:ext cx="3905250" cy="917972"/>
          </a:xfrm>
          <a:prstGeom prst="roundRect">
            <a:avLst>
              <a:gd name="adj" fmla="val 8301"/>
            </a:avLst>
          </a:prstGeom>
          <a:solidFill>
            <a:srgbClr val="F0FFF4"/>
          </a:solidFill>
          <a:ln w="9525">
            <a:solidFill>
              <a:srgbClr val="68D39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48225" y="150331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Skalabilitas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8225" y="1766143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harus mampu melayani seluruh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DJA secara bersamaan dengan optimasi performa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583210"/>
            <a:ext cx="3905250" cy="917972"/>
          </a:xfrm>
          <a:prstGeom prst="roundRect">
            <a:avLst>
              <a:gd name="adj" fmla="val 8301"/>
            </a:avLst>
          </a:prstGeom>
          <a:solidFill>
            <a:srgbClr val="FFF5F5"/>
          </a:solidFill>
          <a:ln w="9525">
            <a:solidFill>
              <a:srgbClr val="FC81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2475" y="276418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2475" y="3027015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SSO Kemenkeu dan implementasi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(RBAC) sesuai kewenangan pengguna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67250" y="2583210"/>
            <a:ext cx="3905250" cy="917972"/>
          </a:xfrm>
          <a:prstGeom prst="roundRect">
            <a:avLst>
              <a:gd name="adj" fmla="val 8301"/>
            </a:avLst>
          </a:prstGeom>
          <a:solidFill>
            <a:srgbClr val="FAF5FF"/>
          </a:solidFill>
          <a:ln w="9525">
            <a:solidFill>
              <a:srgbClr val="B794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8225" y="276418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Keberlanjutan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8225" y="3027015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Penetapan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jelas dan </a:t>
            </a: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</a:t>
            </a: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 internal DJA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844082"/>
            <a:ext cx="8001000" cy="624780"/>
          </a:xfrm>
          <a:prstGeom prst="roundRect">
            <a:avLst>
              <a:gd name="adj" fmla="val 1219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" y="3996482"/>
            <a:ext cx="78501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Koordinasi Teknis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Detail arsitektur perlu dikoordinasikan dengan DSP DJA dan BATII untuk memastikan kesesuaian dengan standar dan infrastruktur </a:t>
            </a: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4847" y="812602"/>
            <a:ext cx="2894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16965" y="2490471"/>
            <a:ext cx="3291790" cy="862757"/>
          </a:xfrm>
          <a:prstGeom prst="roundRect">
            <a:avLst>
              <a:gd name="adj" fmla="val 88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38313" y="2690496"/>
            <a:ext cx="25027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PROTOTIPE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638313" y="2913291"/>
            <a:ext cx="25027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dashanggaran.streamlit.app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62DF68-9289-7EB5-1324-C617BC4A99F1}"/>
              </a:ext>
            </a:extLst>
          </p:cNvPr>
          <p:cNvSpPr/>
          <p:nvPr/>
        </p:nvSpPr>
        <p:spPr>
          <a:xfrm>
            <a:off x="4762446" y="2490471"/>
            <a:ext cx="3291790" cy="862757"/>
          </a:xfrm>
          <a:prstGeom prst="roundRect">
            <a:avLst>
              <a:gd name="adj" fmla="val 88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BD646FC-0D45-D0FA-F194-060760CC0DFF}"/>
              </a:ext>
            </a:extLst>
          </p:cNvPr>
          <p:cNvSpPr/>
          <p:nvPr/>
        </p:nvSpPr>
        <p:spPr>
          <a:xfrm>
            <a:off x="5130103" y="2690496"/>
            <a:ext cx="25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GITHUB</a:t>
            </a:r>
            <a:endParaRPr lang="en-US" sz="825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E2723F7-3D15-EC56-F97A-6E8DBEE72467}"/>
              </a:ext>
            </a:extLst>
          </p:cNvPr>
          <p:cNvSpPr/>
          <p:nvPr/>
        </p:nvSpPr>
        <p:spPr>
          <a:xfrm>
            <a:off x="4809994" y="2913291"/>
            <a:ext cx="31878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github.com/tubankum3/</a:t>
            </a: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dashanggaran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899</Words>
  <Application>Microsoft Office PowerPoint</Application>
  <PresentationFormat>On-screen Show (16:9)</PresentationFormat>
  <Paragraphs>213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Source Sans 3 Variable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Kementerian Keuangan 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Program Deliverables - Prototipe Dashboard Analisis Anggaran</dc:title>
  <dc:subject/>
  <dc:creator>Made Gde Satria Bela</dc:creator>
  <cp:lastModifiedBy>Made Gde Satria Bela</cp:lastModifiedBy>
  <cp:revision>6</cp:revision>
  <dcterms:created xsi:type="dcterms:W3CDTF">2025-12-24T09:01:10Z</dcterms:created>
  <dcterms:modified xsi:type="dcterms:W3CDTF">2025-12-26T03:54:50Z</dcterms:modified>
</cp:coreProperties>
</file>