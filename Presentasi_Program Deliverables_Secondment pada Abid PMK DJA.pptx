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39342" y="951607"/>
            <a:ext cx="326516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spcAft>
                <a:spcPts val="1500"/>
              </a:spcAft>
              <a:buNone/>
            </a:pPr>
            <a:r>
              <a:rPr lang="en-US" sz="105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 PROGRAM DELIVERABLES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65329" y="1481138"/>
            <a:ext cx="461319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0"/>
              </a:lnSpc>
              <a:spcAft>
                <a:spcPts val="450"/>
              </a:spcAft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Prototipe Dashboard Analisis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1460157" y="2014538"/>
            <a:ext cx="62235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0"/>
              </a:lnSpc>
              <a:spcAft>
                <a:spcPts val="450"/>
              </a:spcAft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Anggaran dan Realisasi Belanja Negara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2153751" y="2738438"/>
            <a:ext cx="483649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spcBef>
                <a:spcPts val="1500"/>
              </a:spcBef>
              <a:spcAft>
                <a:spcPts val="3750"/>
              </a:spcAft>
              <a:buNone/>
            </a:pPr>
            <a:r>
              <a:rPr lang="en-US" sz="1050" i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of Concept untuk Pengembangan Fitur Visualisasi pada Platform SatuDJA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22261" y="3553718"/>
            <a:ext cx="3699328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FFFFFF">
                    <a:alpha val="9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Secondment - Direktorat Abid PMK - DJA - Kemenkeu RI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4442208" y="4031754"/>
            <a:ext cx="25943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1200"/>
              </a:spcBef>
              <a:buNone/>
            </a:pPr>
            <a:r>
              <a:rPr lang="en-US" sz="900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1354634"/>
            <a:ext cx="409022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Aft>
                <a:spcPts val="2250"/>
              </a:spcAft>
              <a:buNone/>
            </a:pPr>
            <a:r>
              <a:rPr lang="en-US" sz="24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71500" y="2097584"/>
            <a:ext cx="369189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Pendahuluan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71500" y="2348954"/>
            <a:ext cx="369189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Belakang, Ruang Lingkup, Metodologi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71500" y="2737545"/>
            <a:ext cx="369189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Analisis Kebutuhan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71500" y="2988915"/>
            <a:ext cx="369189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Identifikasi Kebutuhan, Keterbatasan Data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71500" y="3377505"/>
            <a:ext cx="369189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Pembahasan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1500" y="3628876"/>
            <a:ext cx="369189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Struktur Dashboard dan 5 Modul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953000" y="2097584"/>
            <a:ext cx="369189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7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Simulasi Dashboard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53000" y="2348954"/>
            <a:ext cx="369189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langsung 5 skenario penggunaan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953000" y="2737545"/>
            <a:ext cx="369189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Analisis Risiko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53000" y="2988915"/>
            <a:ext cx="369189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Identifikasi risiko dan mitigasi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953000" y="3377505"/>
            <a:ext cx="369189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Kesimpulan dan Rekomendasi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53000" y="3628876"/>
            <a:ext cx="369189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Temuan utama dan arsitektur integrasi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89261" y="2097435"/>
            <a:ext cx="96547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01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3107997" y="2588865"/>
            <a:ext cx="29278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Pendahuluan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745182"/>
            <a:ext cx="40902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1800"/>
              </a:spcAft>
              <a:buNone/>
            </a:pPr>
            <a:r>
              <a:rPr lang="en-US" sz="2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1392882"/>
            <a:ext cx="3905250" cy="898922"/>
          </a:xfrm>
          <a:prstGeom prst="roundRect">
            <a:avLst>
              <a:gd name="adj" fmla="val 8477"/>
            </a:avLst>
          </a:prstGeom>
          <a:solidFill>
            <a:srgbClr val="EDF2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90550" y="1392882"/>
            <a:ext cx="0" cy="898922"/>
          </a:xfrm>
          <a:prstGeom prst="line">
            <a:avLst/>
          </a:prstGeom>
          <a:noFill/>
          <a:ln w="381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2000" y="1545282"/>
            <a:ext cx="363359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Existing DJA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62000" y="1808113"/>
            <a:ext cx="363359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spcAft>
                <a:spcPts val="300"/>
              </a:spcAft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SatuDJA - Sistem aplikasi terpadu proses penganggaran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762000" y="1992809"/>
            <a:ext cx="3633597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Bidja - Business Intelligence akses data anggaran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4667250" y="1411932"/>
            <a:ext cx="3905250" cy="860822"/>
          </a:xfrm>
          <a:prstGeom prst="roundRect">
            <a:avLst>
              <a:gd name="adj" fmla="val 8852"/>
            </a:avLst>
          </a:prstGeom>
          <a:solidFill>
            <a:srgbClr val="E6FF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686300" y="1411932"/>
            <a:ext cx="0" cy="860822"/>
          </a:xfrm>
          <a:prstGeom prst="line">
            <a:avLst/>
          </a:prstGeom>
          <a:noFill/>
          <a:ln w="38100">
            <a:solidFill>
              <a:srgbClr val="2C7A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57750" y="1564332"/>
            <a:ext cx="3633597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C7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Peluang Optimalisasi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857750" y="1827163"/>
            <a:ext cx="3633597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Kebutuhan visualisasi interaktif untuk analisis mendalam dan penyajian informasi kepada pimpinan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571500" y="2634704"/>
            <a:ext cx="8001000" cy="738932"/>
          </a:xfrm>
          <a:prstGeom prst="roundRect">
            <a:avLst>
              <a:gd name="adj" fmla="val 10312"/>
            </a:avLst>
          </a:prstGeom>
          <a:solidFill>
            <a:srgbClr val="FFFFFF"/>
          </a:solidFill>
          <a:ln w="9525">
            <a:solidFill>
              <a:srgbClr val="CBD5E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3425" y="2796629"/>
            <a:ext cx="7830693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750"/>
              </a:spcAft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Area Kebutuhan yang Teridentifikasi: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733425" y="3065115"/>
            <a:ext cx="7830693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Tren Longitudinal | Visualisasi Budget Flow | Perbandingan Pagu vs Realisasi | Drill-Down Klasifikasi | Monitoring Perubahan Data</a:t>
            </a:r>
            <a:endParaRPr lang="en-US" sz="825" dirty="0"/>
          </a:p>
        </p:txBody>
      </p:sp>
      <p:pic>
        <p:nvPicPr>
          <p:cNvPr id="15" name="Image 0" descr="/tmp/rasterized-gradient-ad00e75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3716536"/>
            <a:ext cx="8001000" cy="681782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23900" y="3868936"/>
            <a:ext cx="785012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450"/>
              </a:spcAft>
              <a:buNone/>
            </a:pPr>
            <a:r>
              <a:rPr lang="en-US" sz="9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Solusi: Prototipe Dashboard sebagai Proof of Concept</a:t>
            </a:r>
            <a:endParaRPr lang="en-US" sz="975" dirty="0"/>
          </a:p>
        </p:txBody>
      </p:sp>
      <p:sp>
        <p:nvSpPr>
          <p:cNvPr id="17" name="Text 14"/>
          <p:cNvSpPr/>
          <p:nvPr/>
        </p:nvSpPr>
        <p:spPr>
          <a:xfrm>
            <a:off x="723900" y="4099322"/>
            <a:ext cx="7850124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Demonstrasi konsep dan validasi kebutuhan untuk pengembangan modul visualisasi baru di SatuDJA</a:t>
            </a:r>
            <a:endParaRPr lang="en-US" sz="8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1033760"/>
            <a:ext cx="40902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1800"/>
              </a:spcAft>
              <a:buNone/>
            </a:pPr>
            <a:r>
              <a:rPr lang="en-US" sz="2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Ruang Lingkup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1681460"/>
            <a:ext cx="8001000" cy="2428280"/>
          </a:xfrm>
          <a:prstGeom prst="roundRect">
            <a:avLst>
              <a:gd name="adj" fmla="val 3138"/>
            </a:avLst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762000" y="2278559"/>
            <a:ext cx="76200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2000" y="1986260"/>
            <a:ext cx="155448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 Data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438400" y="1986260"/>
            <a:ext cx="209915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Bidja (bidja.kemenkeu.go.id)</a:t>
            </a:r>
            <a:endParaRPr lang="en-US" sz="975" dirty="0"/>
          </a:p>
        </p:txBody>
      </p:sp>
      <p:sp>
        <p:nvSpPr>
          <p:cNvPr id="7" name="Shape 5"/>
          <p:cNvSpPr/>
          <p:nvPr/>
        </p:nvSpPr>
        <p:spPr>
          <a:xfrm>
            <a:off x="762000" y="2689920"/>
            <a:ext cx="76200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2000" y="2397621"/>
            <a:ext cx="155448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Periode Data</a:t>
            </a:r>
            <a:endParaRPr lang="en-US" sz="975" dirty="0"/>
          </a:p>
        </p:txBody>
      </p:sp>
      <p:sp>
        <p:nvSpPr>
          <p:cNvPr id="9" name="Text 7"/>
          <p:cNvSpPr/>
          <p:nvPr/>
        </p:nvSpPr>
        <p:spPr>
          <a:xfrm>
            <a:off x="2438400" y="2397621"/>
            <a:ext cx="162932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Tahun Anggaran 2023 - 2026</a:t>
            </a:r>
            <a:endParaRPr lang="en-US" sz="975" dirty="0"/>
          </a:p>
        </p:txBody>
      </p:sp>
      <p:sp>
        <p:nvSpPr>
          <p:cNvPr id="10" name="Shape 8"/>
          <p:cNvSpPr/>
          <p:nvPr/>
        </p:nvSpPr>
        <p:spPr>
          <a:xfrm>
            <a:off x="762000" y="3101280"/>
            <a:ext cx="76200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2000" y="2808982"/>
            <a:ext cx="155448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2438400" y="2808982"/>
            <a:ext cx="520948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Fungsi, Sub Fungsi, Program, Kegiatan, Output, Komponen, Jenis Belanja, Akun, K/L, Satker</a:t>
            </a:r>
            <a:endParaRPr lang="en-US" sz="975" dirty="0"/>
          </a:p>
        </p:txBody>
      </p:sp>
      <p:sp>
        <p:nvSpPr>
          <p:cNvPr id="13" name="Shape 11"/>
          <p:cNvSpPr/>
          <p:nvPr/>
        </p:nvSpPr>
        <p:spPr>
          <a:xfrm>
            <a:off x="762000" y="3512641"/>
            <a:ext cx="76200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2000" y="3220343"/>
            <a:ext cx="155448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Metrik Anggaran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2438400" y="3220343"/>
            <a:ext cx="507088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Realisasi Belanja, Pagu DIPA (Awal, Revisi, Efektif), Blokir, Pagu Himpunan, Pagu Perpres</a:t>
            </a:r>
            <a:endParaRPr lang="en-US" sz="975" dirty="0"/>
          </a:p>
        </p:txBody>
      </p:sp>
      <p:sp>
        <p:nvSpPr>
          <p:cNvPr id="16" name="Text 14"/>
          <p:cNvSpPr/>
          <p:nvPr/>
        </p:nvSpPr>
        <p:spPr>
          <a:xfrm>
            <a:off x="762000" y="3631704"/>
            <a:ext cx="155448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975" dirty="0"/>
          </a:p>
        </p:txBody>
      </p:sp>
      <p:sp>
        <p:nvSpPr>
          <p:cNvPr id="17" name="Text 15"/>
          <p:cNvSpPr/>
          <p:nvPr/>
        </p:nvSpPr>
        <p:spPr>
          <a:xfrm>
            <a:off x="2438400" y="3631704"/>
            <a:ext cx="3263194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2C7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Modul dashboard interaktif sebagai proof of concept</a:t>
            </a:r>
            <a:endParaRPr lang="en-US" sz="97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548729"/>
            <a:ext cx="40902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 Pengembangan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1158329"/>
            <a:ext cx="511521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2C7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PENDEKATAN: RAPID APPLICATION DEVELOPMENT (RAD)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71500" y="1489770"/>
            <a:ext cx="5014913" cy="540990"/>
          </a:xfrm>
          <a:prstGeom prst="roundRect">
            <a:avLst>
              <a:gd name="adj" fmla="val 10564"/>
            </a:avLst>
          </a:prstGeom>
          <a:solidFill>
            <a:srgbClr val="EDF2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23900" y="1604070"/>
            <a:ext cx="480431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Identifikasi Kebutuhan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23900" y="1783110"/>
            <a:ext cx="48043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Observasi dan diskusi dengan pengguna potensial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71500" y="2126010"/>
            <a:ext cx="5014913" cy="540990"/>
          </a:xfrm>
          <a:prstGeom prst="roundRect">
            <a:avLst>
              <a:gd name="adj" fmla="val 10564"/>
            </a:avLst>
          </a:prstGeom>
          <a:solidFill>
            <a:srgbClr val="EDF2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3900" y="2240310"/>
            <a:ext cx="480431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Desain Konsep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23900" y="2419350"/>
            <a:ext cx="48043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Perancangan struktur modul dan alur interaksi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71500" y="2762250"/>
            <a:ext cx="5014913" cy="540990"/>
          </a:xfrm>
          <a:prstGeom prst="roundRect">
            <a:avLst>
              <a:gd name="adj" fmla="val 10564"/>
            </a:avLst>
          </a:prstGeom>
          <a:solidFill>
            <a:srgbClr val="EDF2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23900" y="2876550"/>
            <a:ext cx="480431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Pengembangan Iteratif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23900" y="3055590"/>
            <a:ext cx="48043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Pembangunan modul bertahap dengan feedback berkala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71500" y="3398490"/>
            <a:ext cx="5014913" cy="540990"/>
          </a:xfrm>
          <a:prstGeom prst="roundRect">
            <a:avLst>
              <a:gd name="adj" fmla="val 10564"/>
            </a:avLst>
          </a:prstGeom>
          <a:solidFill>
            <a:srgbClr val="EDF2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3900" y="3512790"/>
            <a:ext cx="480431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Validasi Kesesuaian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23900" y="3691830"/>
            <a:ext cx="48043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Verifikasi pemenuhan kebutuhan pengguna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71500" y="4034730"/>
            <a:ext cx="5014913" cy="560040"/>
          </a:xfrm>
          <a:prstGeom prst="roundRect">
            <a:avLst>
              <a:gd name="adj" fmla="val 10205"/>
            </a:avLst>
          </a:prstGeom>
          <a:solidFill>
            <a:srgbClr val="E6FFFA"/>
          </a:solidFill>
          <a:ln w="9525">
            <a:solidFill>
              <a:srgbClr val="2C7A7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33425" y="4158555"/>
            <a:ext cx="478488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2C7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Dokumentasi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3425" y="4337596"/>
            <a:ext cx="47848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150"/>
              </a:spcBef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Penyusunan laporan dan rekomendasi integrasi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872163" y="1810643"/>
            <a:ext cx="275434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2C7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TEKNOLOGI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872163" y="2199233"/>
            <a:ext cx="2700338" cy="1743075"/>
          </a:xfrm>
          <a:prstGeom prst="roundRect">
            <a:avLst>
              <a:gd name="adj" fmla="val 4372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062663" y="2389733"/>
            <a:ext cx="236572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15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062663" y="2542133"/>
            <a:ext cx="23657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Aft>
                <a:spcPts val="1200"/>
              </a:spcAft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Streamlit</a:t>
            </a:r>
            <a:endParaRPr lang="en-US" sz="1125" dirty="0"/>
          </a:p>
        </p:txBody>
      </p:sp>
      <p:sp>
        <p:nvSpPr>
          <p:cNvPr id="23" name="Text 21"/>
          <p:cNvSpPr/>
          <p:nvPr/>
        </p:nvSpPr>
        <p:spPr>
          <a:xfrm>
            <a:off x="6062663" y="2894558"/>
            <a:ext cx="236572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15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VISUALISASI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062663" y="3046958"/>
            <a:ext cx="23657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spcAft>
                <a:spcPts val="1200"/>
              </a:spcAft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Plotly</a:t>
            </a:r>
            <a:endParaRPr lang="en-US" sz="1125" dirty="0"/>
          </a:p>
        </p:txBody>
      </p:sp>
      <p:sp>
        <p:nvSpPr>
          <p:cNvPr id="25" name="Text 23"/>
          <p:cNvSpPr/>
          <p:nvPr/>
        </p:nvSpPr>
        <p:spPr>
          <a:xfrm>
            <a:off x="6062663" y="3399383"/>
            <a:ext cx="236572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15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PROCESSING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062663" y="3551783"/>
            <a:ext cx="23657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Pandas, NumPy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89261" y="2116485"/>
            <a:ext cx="96547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02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576831" y="2607915"/>
            <a:ext cx="399033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Kebutuhan</a:t>
            </a:r>
            <a:endParaRPr lang="en-US" sz="3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744141"/>
            <a:ext cx="40902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Identifikasi Kebutuhan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1353741"/>
            <a:ext cx="8001000" cy="401836"/>
          </a:xfrm>
          <a:prstGeom prst="roundRect">
            <a:avLst>
              <a:gd name="adj" fmla="val 14222"/>
            </a:avLst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62000" y="1468041"/>
            <a:ext cx="29146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1200150" y="1468041"/>
            <a:ext cx="213741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dan Budget Flow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3448050" y="1474589"/>
            <a:ext cx="302440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Visualisasi gambaran umum dan aliran distribusi anggaran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2000" y="1946077"/>
            <a:ext cx="29146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1200150" y="1946077"/>
            <a:ext cx="213741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Tren Longitudinal</a:t>
            </a:r>
            <a:endParaRPr lang="en-US" sz="975" dirty="0"/>
          </a:p>
        </p:txBody>
      </p:sp>
      <p:sp>
        <p:nvSpPr>
          <p:cNvPr id="9" name="Text 7"/>
          <p:cNvSpPr/>
          <p:nvPr/>
        </p:nvSpPr>
        <p:spPr>
          <a:xfrm>
            <a:off x="3448050" y="1952625"/>
            <a:ext cx="332254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Perkembangan multi-tahun dengan CAGR, AAGR, YoY otomatis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71500" y="2309813"/>
            <a:ext cx="8001000" cy="401836"/>
          </a:xfrm>
          <a:prstGeom prst="roundRect">
            <a:avLst>
              <a:gd name="adj" fmla="val 14222"/>
            </a:avLst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62000" y="2424113"/>
            <a:ext cx="29146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1200150" y="2424113"/>
            <a:ext cx="213741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Pagu vs Realisasi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3448050" y="2430661"/>
            <a:ext cx="318000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Visualisasi berbagai versi Pagu dengan Realisasi dan varians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62000" y="2902148"/>
            <a:ext cx="29146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1200150" y="2902148"/>
            <a:ext cx="213741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Drill-Down Klasifikasi</a:t>
            </a:r>
            <a:endParaRPr lang="en-US" sz="975" dirty="0"/>
          </a:p>
        </p:txBody>
      </p:sp>
      <p:sp>
        <p:nvSpPr>
          <p:cNvPr id="16" name="Text 14"/>
          <p:cNvSpPr/>
          <p:nvPr/>
        </p:nvSpPr>
        <p:spPr>
          <a:xfrm>
            <a:off x="3448050" y="2908697"/>
            <a:ext cx="3013475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Eksplorasi dari level agregat hingga detail secara interaktif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71500" y="3265884"/>
            <a:ext cx="8001000" cy="401836"/>
          </a:xfrm>
          <a:prstGeom prst="roundRect">
            <a:avLst>
              <a:gd name="adj" fmla="val 14222"/>
            </a:avLst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62000" y="3380184"/>
            <a:ext cx="291465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75" dirty="0"/>
          </a:p>
        </p:txBody>
      </p:sp>
      <p:sp>
        <p:nvSpPr>
          <p:cNvPr id="19" name="Text 17"/>
          <p:cNvSpPr/>
          <p:nvPr/>
        </p:nvSpPr>
        <p:spPr>
          <a:xfrm>
            <a:off x="1200150" y="3380184"/>
            <a:ext cx="213741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Perubahan Data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3448050" y="3386733"/>
            <a:ext cx="2858786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Pelacakan perubahan anggaran antar update database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71500" y="3972520"/>
            <a:ext cx="8001000" cy="426690"/>
          </a:xfrm>
          <a:prstGeom prst="roundRect">
            <a:avLst>
              <a:gd name="adj" fmla="val 17858"/>
            </a:avLst>
          </a:prstGeom>
          <a:solidFill>
            <a:srgbClr val="2C7A7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62000" y="4105870"/>
            <a:ext cx="77724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Strategi: Prototipe sebagai proof of concept untuk validasi kebutuhan - Blueprint integrasi ke SatuDJA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863203"/>
            <a:ext cx="40902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Data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1472803"/>
            <a:ext cx="3924300" cy="866477"/>
          </a:xfrm>
          <a:prstGeom prst="roundRect">
            <a:avLst>
              <a:gd name="adj" fmla="val 8794"/>
            </a:avLst>
          </a:prstGeom>
          <a:solidFill>
            <a:srgbClr val="FFF5F5"/>
          </a:solidFill>
          <a:ln w="9525">
            <a:solidFill>
              <a:srgbClr val="FC818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33425" y="1634728"/>
            <a:ext cx="367245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C5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Periode Data Terbatas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733425" y="1884164"/>
            <a:ext cx="367245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2023-2026. Data 2026 hanya tersedia Pagu Awal, Himpunan, Perpres (tanpa Pagu Revisi dan Realisasi).</a:t>
            </a:r>
            <a:endParaRPr lang="en-US" sz="825" dirty="0"/>
          </a:p>
        </p:txBody>
      </p:sp>
      <p:sp>
        <p:nvSpPr>
          <p:cNvPr id="6" name="Text 4"/>
          <p:cNvSpPr/>
          <p:nvPr/>
        </p:nvSpPr>
        <p:spPr>
          <a:xfrm>
            <a:off x="4648200" y="1472803"/>
            <a:ext cx="3924300" cy="866477"/>
          </a:xfrm>
          <a:prstGeom prst="roundRect">
            <a:avLst>
              <a:gd name="adj" fmla="val 8794"/>
            </a:avLst>
          </a:prstGeom>
          <a:solidFill>
            <a:srgbClr val="FFFAF0"/>
          </a:solidFill>
          <a:ln w="9525">
            <a:solidFill>
              <a:srgbClr val="F6AD5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10125" y="1634728"/>
            <a:ext cx="367245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C05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Inkonsistensi Nomenklatur</a:t>
            </a:r>
            <a:endParaRPr lang="en-US" sz="975" dirty="0"/>
          </a:p>
        </p:txBody>
      </p:sp>
      <p:sp>
        <p:nvSpPr>
          <p:cNvPr id="8" name="Text 6"/>
          <p:cNvSpPr/>
          <p:nvPr/>
        </p:nvSpPr>
        <p:spPr>
          <a:xfrm>
            <a:off x="4810125" y="1884164"/>
            <a:ext cx="367245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Perubahan nomenklatur program/kegiatan antar tahun. Ditangani dengan tampilan berdasarkan kode klasifikasi.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571500" y="2644080"/>
            <a:ext cx="3924300" cy="866477"/>
          </a:xfrm>
          <a:prstGeom prst="roundRect">
            <a:avLst>
              <a:gd name="adj" fmla="val 8794"/>
            </a:avLst>
          </a:prstGeom>
          <a:solidFill>
            <a:srgbClr val="EBF8FF"/>
          </a:solidFill>
          <a:ln w="9525">
            <a:solidFill>
              <a:srgbClr val="63B3E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33425" y="2806005"/>
            <a:ext cx="367245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2B6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Data Terbatas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33425" y="3055441"/>
            <a:ext cx="367245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Prototipe hanya menampilkan field yang dipilih sesuai kebutuhan analisis utama.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4648200" y="2644080"/>
            <a:ext cx="3924300" cy="866477"/>
          </a:xfrm>
          <a:prstGeom prst="roundRect">
            <a:avLst>
              <a:gd name="adj" fmla="val 8794"/>
            </a:avLst>
          </a:prstGeom>
          <a:solidFill>
            <a:srgbClr val="F0FFF4"/>
          </a:solidFill>
          <a:ln w="9525">
            <a:solidFill>
              <a:srgbClr val="68D39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810125" y="2806005"/>
            <a:ext cx="367245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spcAft>
                <a:spcPts val="600"/>
              </a:spcAft>
              <a:buNone/>
            </a:pPr>
            <a:r>
              <a:rPr lang="en-US" sz="975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Performa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4810125" y="3055441"/>
            <a:ext cx="3672459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besar berdampak performa prototipe. Di production SatuDJA dengan infrastruktur kuat, dapat teratasi.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571500" y="3815358"/>
            <a:ext cx="8001000" cy="464790"/>
          </a:xfrm>
          <a:prstGeom prst="roundRect">
            <a:avLst>
              <a:gd name="adj" fmla="val 16395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23900" y="3967758"/>
            <a:ext cx="78501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ini bersifat teknis dan dapat dieliminasi pada implementasi production di SatuDJA dengan integrasi data real-time dari Bidja.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89261" y="2097435"/>
            <a:ext cx="96547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03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3133348" y="2588865"/>
            <a:ext cx="2877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Pembahasan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756493"/>
            <a:ext cx="422624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Pemetaan Kebutuhan dan Modul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1366093"/>
            <a:ext cx="8001000" cy="337096"/>
          </a:xfrm>
          <a:prstGeom prst="roundRect">
            <a:avLst>
              <a:gd name="adj" fmla="val 16954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23900" y="1461343"/>
            <a:ext cx="2914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25" dirty="0"/>
          </a:p>
        </p:txBody>
      </p:sp>
      <p:sp>
        <p:nvSpPr>
          <p:cNvPr id="5" name="Text 3"/>
          <p:cNvSpPr/>
          <p:nvPr/>
        </p:nvSpPr>
        <p:spPr>
          <a:xfrm>
            <a:off x="1162050" y="1461343"/>
            <a:ext cx="194310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Kebutuhan</a:t>
            </a:r>
            <a:endParaRPr lang="en-US" sz="825" dirty="0"/>
          </a:p>
        </p:txBody>
      </p:sp>
      <p:sp>
        <p:nvSpPr>
          <p:cNvPr id="6" name="Text 4"/>
          <p:cNvSpPr/>
          <p:nvPr/>
        </p:nvSpPr>
        <p:spPr>
          <a:xfrm>
            <a:off x="3219450" y="1461343"/>
            <a:ext cx="145732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4800600" y="1461343"/>
            <a:ext cx="275920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 Utama</a:t>
            </a:r>
            <a:endParaRPr lang="en-US" sz="825" dirty="0"/>
          </a:p>
        </p:txBody>
      </p:sp>
      <p:sp>
        <p:nvSpPr>
          <p:cNvPr id="8" name="Text 6"/>
          <p:cNvSpPr/>
          <p:nvPr/>
        </p:nvSpPr>
        <p:spPr>
          <a:xfrm>
            <a:off x="7650480" y="1461343"/>
            <a:ext cx="7772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571500" y="1760339"/>
            <a:ext cx="8001000" cy="337096"/>
          </a:xfrm>
          <a:prstGeom prst="rect">
            <a:avLst/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3900" y="1855589"/>
            <a:ext cx="2914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1162050" y="1855589"/>
            <a:ext cx="194310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dan Budget Flow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3219450" y="1855589"/>
            <a:ext cx="145732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825" dirty="0"/>
          </a:p>
        </p:txBody>
      </p:sp>
      <p:sp>
        <p:nvSpPr>
          <p:cNvPr id="13" name="Text 11"/>
          <p:cNvSpPr/>
          <p:nvPr/>
        </p:nvSpPr>
        <p:spPr>
          <a:xfrm>
            <a:off x="4800600" y="1855589"/>
            <a:ext cx="275920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Series + Sankey Diagram</a:t>
            </a:r>
            <a:endParaRPr lang="en-US" sz="825" dirty="0"/>
          </a:p>
        </p:txBody>
      </p:sp>
      <p:sp>
        <p:nvSpPr>
          <p:cNvPr id="14" name="Text 12"/>
          <p:cNvSpPr/>
          <p:nvPr/>
        </p:nvSpPr>
        <p:spPr>
          <a:xfrm>
            <a:off x="7650480" y="1855589"/>
            <a:ext cx="7772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Sesuai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723900" y="2249835"/>
            <a:ext cx="2914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1162050" y="2249835"/>
            <a:ext cx="194310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Tren Longitudinal</a:t>
            </a:r>
            <a:endParaRPr lang="en-US" sz="825" dirty="0"/>
          </a:p>
        </p:txBody>
      </p:sp>
      <p:sp>
        <p:nvSpPr>
          <p:cNvPr id="17" name="Text 15"/>
          <p:cNvSpPr/>
          <p:nvPr/>
        </p:nvSpPr>
        <p:spPr>
          <a:xfrm>
            <a:off x="3219450" y="2249835"/>
            <a:ext cx="145732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 Analisis</a:t>
            </a:r>
            <a:endParaRPr lang="en-US" sz="825" dirty="0"/>
          </a:p>
        </p:txBody>
      </p:sp>
      <p:sp>
        <p:nvSpPr>
          <p:cNvPr id="18" name="Text 16"/>
          <p:cNvSpPr/>
          <p:nvPr/>
        </p:nvSpPr>
        <p:spPr>
          <a:xfrm>
            <a:off x="4800600" y="2249835"/>
            <a:ext cx="275920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Charts + KPI Metrics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7650480" y="2249835"/>
            <a:ext cx="7772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Sesuai</a:t>
            </a:r>
            <a:endParaRPr lang="en-US" sz="825" dirty="0"/>
          </a:p>
        </p:txBody>
      </p:sp>
      <p:sp>
        <p:nvSpPr>
          <p:cNvPr id="20" name="Text 18"/>
          <p:cNvSpPr/>
          <p:nvPr/>
        </p:nvSpPr>
        <p:spPr>
          <a:xfrm>
            <a:off x="571500" y="2548830"/>
            <a:ext cx="8001000" cy="337096"/>
          </a:xfrm>
          <a:prstGeom prst="rect">
            <a:avLst/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23900" y="2644080"/>
            <a:ext cx="2914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25" dirty="0"/>
          </a:p>
        </p:txBody>
      </p:sp>
      <p:sp>
        <p:nvSpPr>
          <p:cNvPr id="22" name="Text 20"/>
          <p:cNvSpPr/>
          <p:nvPr/>
        </p:nvSpPr>
        <p:spPr>
          <a:xfrm>
            <a:off x="1162050" y="2644080"/>
            <a:ext cx="194310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Pagu vs Realisasi</a:t>
            </a:r>
            <a:endParaRPr lang="en-US" sz="825" dirty="0"/>
          </a:p>
        </p:txBody>
      </p:sp>
      <p:sp>
        <p:nvSpPr>
          <p:cNvPr id="23" name="Text 21"/>
          <p:cNvSpPr/>
          <p:nvPr/>
        </p:nvSpPr>
        <p:spPr>
          <a:xfrm>
            <a:off x="3219450" y="2644080"/>
            <a:ext cx="145732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Komparatif</a:t>
            </a:r>
            <a:endParaRPr lang="en-US" sz="825" dirty="0"/>
          </a:p>
        </p:txBody>
      </p:sp>
      <p:sp>
        <p:nvSpPr>
          <p:cNvPr id="24" name="Text 22"/>
          <p:cNvSpPr/>
          <p:nvPr/>
        </p:nvSpPr>
        <p:spPr>
          <a:xfrm>
            <a:off x="4800600" y="2644080"/>
            <a:ext cx="275920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Dumbbell + Variance Analysis</a:t>
            </a:r>
            <a:endParaRPr lang="en-US" sz="825" dirty="0"/>
          </a:p>
        </p:txBody>
      </p:sp>
      <p:sp>
        <p:nvSpPr>
          <p:cNvPr id="25" name="Text 23"/>
          <p:cNvSpPr/>
          <p:nvPr/>
        </p:nvSpPr>
        <p:spPr>
          <a:xfrm>
            <a:off x="7650480" y="2644080"/>
            <a:ext cx="7772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Sesuai</a:t>
            </a:r>
            <a:endParaRPr lang="en-US" sz="825" dirty="0"/>
          </a:p>
        </p:txBody>
      </p:sp>
      <p:sp>
        <p:nvSpPr>
          <p:cNvPr id="26" name="Text 24"/>
          <p:cNvSpPr/>
          <p:nvPr/>
        </p:nvSpPr>
        <p:spPr>
          <a:xfrm>
            <a:off x="723900" y="3038326"/>
            <a:ext cx="2914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25" dirty="0"/>
          </a:p>
        </p:txBody>
      </p:sp>
      <p:sp>
        <p:nvSpPr>
          <p:cNvPr id="27" name="Text 25"/>
          <p:cNvSpPr/>
          <p:nvPr/>
        </p:nvSpPr>
        <p:spPr>
          <a:xfrm>
            <a:off x="1162050" y="3038326"/>
            <a:ext cx="194310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Drill-Down Klasifikasi</a:t>
            </a:r>
            <a:endParaRPr lang="en-US" sz="825" dirty="0"/>
          </a:p>
        </p:txBody>
      </p:sp>
      <p:sp>
        <p:nvSpPr>
          <p:cNvPr id="28" name="Text 26"/>
          <p:cNvSpPr/>
          <p:nvPr/>
        </p:nvSpPr>
        <p:spPr>
          <a:xfrm>
            <a:off x="3219450" y="3038326"/>
            <a:ext cx="145732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</a:t>
            </a:r>
            <a:endParaRPr lang="en-US" sz="825" dirty="0"/>
          </a:p>
        </p:txBody>
      </p:sp>
      <p:sp>
        <p:nvSpPr>
          <p:cNvPr id="29" name="Text 27"/>
          <p:cNvSpPr/>
          <p:nvPr/>
        </p:nvSpPr>
        <p:spPr>
          <a:xfrm>
            <a:off x="4800600" y="3038326"/>
            <a:ext cx="275920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Click-to-Drill 7 Level</a:t>
            </a:r>
            <a:endParaRPr lang="en-US" sz="825" dirty="0"/>
          </a:p>
        </p:txBody>
      </p:sp>
      <p:sp>
        <p:nvSpPr>
          <p:cNvPr id="30" name="Text 28"/>
          <p:cNvSpPr/>
          <p:nvPr/>
        </p:nvSpPr>
        <p:spPr>
          <a:xfrm>
            <a:off x="7650480" y="3038326"/>
            <a:ext cx="7772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Sesuai</a:t>
            </a:r>
            <a:endParaRPr lang="en-US" sz="825" dirty="0"/>
          </a:p>
        </p:txBody>
      </p:sp>
      <p:sp>
        <p:nvSpPr>
          <p:cNvPr id="31" name="Text 29"/>
          <p:cNvSpPr/>
          <p:nvPr/>
        </p:nvSpPr>
        <p:spPr>
          <a:xfrm>
            <a:off x="571500" y="3337322"/>
            <a:ext cx="8001000" cy="337096"/>
          </a:xfrm>
          <a:prstGeom prst="rect">
            <a:avLst/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23900" y="3432572"/>
            <a:ext cx="29146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25" dirty="0"/>
          </a:p>
        </p:txBody>
      </p:sp>
      <p:sp>
        <p:nvSpPr>
          <p:cNvPr id="33" name="Text 31"/>
          <p:cNvSpPr/>
          <p:nvPr/>
        </p:nvSpPr>
        <p:spPr>
          <a:xfrm>
            <a:off x="1162050" y="3432572"/>
            <a:ext cx="194310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Perubahan Data</a:t>
            </a:r>
            <a:endParaRPr lang="en-US" sz="825" dirty="0"/>
          </a:p>
        </p:txBody>
      </p:sp>
      <p:sp>
        <p:nvSpPr>
          <p:cNvPr id="34" name="Text 32"/>
          <p:cNvSpPr/>
          <p:nvPr/>
        </p:nvSpPr>
        <p:spPr>
          <a:xfrm>
            <a:off x="3219450" y="3432572"/>
            <a:ext cx="1457325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endParaRPr lang="en-US" sz="825" dirty="0"/>
          </a:p>
        </p:txBody>
      </p:sp>
      <p:sp>
        <p:nvSpPr>
          <p:cNvPr id="35" name="Text 33"/>
          <p:cNvSpPr/>
          <p:nvPr/>
        </p:nvSpPr>
        <p:spPr>
          <a:xfrm>
            <a:off x="4800600" y="3432572"/>
            <a:ext cx="275920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Comparison + Delta</a:t>
            </a:r>
            <a:endParaRPr lang="en-US" sz="825" dirty="0"/>
          </a:p>
        </p:txBody>
      </p:sp>
      <p:sp>
        <p:nvSpPr>
          <p:cNvPr id="36" name="Text 34"/>
          <p:cNvSpPr/>
          <p:nvPr/>
        </p:nvSpPr>
        <p:spPr>
          <a:xfrm>
            <a:off x="7650480" y="3432572"/>
            <a:ext cx="777240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Sesuai</a:t>
            </a:r>
            <a:endParaRPr lang="en-US" sz="825" dirty="0"/>
          </a:p>
        </p:txBody>
      </p:sp>
      <p:sp>
        <p:nvSpPr>
          <p:cNvPr id="37" name="Text 35"/>
          <p:cNvSpPr/>
          <p:nvPr/>
        </p:nvSpPr>
        <p:spPr>
          <a:xfrm>
            <a:off x="571500" y="3979218"/>
            <a:ext cx="8001000" cy="407640"/>
          </a:xfrm>
          <a:prstGeom prst="roundRect">
            <a:avLst>
              <a:gd name="adj" fmla="val 18693"/>
            </a:avLst>
          </a:prstGeom>
          <a:solidFill>
            <a:srgbClr val="E6FFFA"/>
          </a:solidFill>
          <a:ln w="9525">
            <a:solidFill>
              <a:srgbClr val="2C7A7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33425" y="4103043"/>
            <a:ext cx="783069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 Validasi: Seluruh modul telah menjawab kebutuhan analisis spesifik Tim Data Abid PMK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1580257"/>
            <a:ext cx="40902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Modul Dashboard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2189857"/>
            <a:ext cx="1493490" cy="1373386"/>
          </a:xfrm>
          <a:prstGeom prst="roundRect">
            <a:avLst>
              <a:gd name="adj" fmla="val 5548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23900" y="2342257"/>
            <a:ext cx="12124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23900" y="2605088"/>
            <a:ext cx="12124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90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point dengan overview kondisi anggaran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23900" y="2986088"/>
            <a:ext cx="1212464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spcAft>
                <a:spcPts val="300"/>
              </a:spcAft>
              <a:buNone/>
            </a:pPr>
            <a:r>
              <a:rPr lang="en-US" sz="6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</a:t>
            </a:r>
            <a:endParaRPr lang="en-US" sz="675" dirty="0"/>
          </a:p>
        </p:txBody>
      </p:sp>
      <p:sp>
        <p:nvSpPr>
          <p:cNvPr id="7" name="Text 5"/>
          <p:cNvSpPr/>
          <p:nvPr/>
        </p:nvSpPr>
        <p:spPr>
          <a:xfrm>
            <a:off x="723900" y="314414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Series Dual Axis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23900" y="327749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Sankey Diagram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198340" y="2189857"/>
            <a:ext cx="1493490" cy="1373386"/>
          </a:xfrm>
          <a:prstGeom prst="roundRect">
            <a:avLst>
              <a:gd name="adj" fmla="val 5548"/>
            </a:avLst>
          </a:prstGeom>
          <a:solidFill>
            <a:srgbClr val="2C7A7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50740" y="2342257"/>
            <a:ext cx="12124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 Analisis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50740" y="2605088"/>
            <a:ext cx="12124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90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tren multi-tahun dengan growth metrics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2350740" y="2986088"/>
            <a:ext cx="1212464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spcAft>
                <a:spcPts val="300"/>
              </a:spcAft>
              <a:buNone/>
            </a:pPr>
            <a:r>
              <a:rPr lang="en-US" sz="6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</a:t>
            </a:r>
            <a:endParaRPr lang="en-US" sz="675" dirty="0"/>
          </a:p>
        </p:txBody>
      </p:sp>
      <p:sp>
        <p:nvSpPr>
          <p:cNvPr id="13" name="Text 11"/>
          <p:cNvSpPr/>
          <p:nvPr/>
        </p:nvSpPr>
        <p:spPr>
          <a:xfrm>
            <a:off x="2350740" y="314414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Charts per Kategori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350740" y="327749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CAGR / AAGR / YoY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825180" y="2189857"/>
            <a:ext cx="1493490" cy="1373386"/>
          </a:xfrm>
          <a:prstGeom prst="roundRect">
            <a:avLst>
              <a:gd name="adj" fmla="val 5548"/>
            </a:avLst>
          </a:prstGeom>
          <a:solidFill>
            <a:srgbClr val="553C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977580" y="2342257"/>
            <a:ext cx="12124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Komparatif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977580" y="2605088"/>
            <a:ext cx="12124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90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Pagu vs Realisasi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3977580" y="2986088"/>
            <a:ext cx="1212464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spcAft>
                <a:spcPts val="300"/>
              </a:spcAft>
              <a:buNone/>
            </a:pPr>
            <a:r>
              <a:rPr lang="en-US" sz="6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</a:t>
            </a:r>
            <a:endParaRPr lang="en-US" sz="675" dirty="0"/>
          </a:p>
        </p:txBody>
      </p:sp>
      <p:sp>
        <p:nvSpPr>
          <p:cNvPr id="19" name="Text 17"/>
          <p:cNvSpPr/>
          <p:nvPr/>
        </p:nvSpPr>
        <p:spPr>
          <a:xfrm>
            <a:off x="3977580" y="314414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Dumbbell Chart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977580" y="327749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 Analysis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452021" y="2189857"/>
            <a:ext cx="1493490" cy="1373386"/>
          </a:xfrm>
          <a:prstGeom prst="roundRect">
            <a:avLst>
              <a:gd name="adj" fmla="val 5548"/>
            </a:avLst>
          </a:prstGeom>
          <a:solidFill>
            <a:srgbClr val="C056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604421" y="2342257"/>
            <a:ext cx="12124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04421" y="2605088"/>
            <a:ext cx="12124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90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Drill-down hierarki klasifikasi anggaran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604421" y="2986088"/>
            <a:ext cx="1212464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spcAft>
                <a:spcPts val="300"/>
              </a:spcAft>
              <a:buNone/>
            </a:pPr>
            <a:r>
              <a:rPr lang="en-US" sz="6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</a:t>
            </a:r>
            <a:endParaRPr lang="en-US" sz="675" dirty="0"/>
          </a:p>
        </p:txBody>
      </p:sp>
      <p:sp>
        <p:nvSpPr>
          <p:cNvPr id="25" name="Text 23"/>
          <p:cNvSpPr/>
          <p:nvPr/>
        </p:nvSpPr>
        <p:spPr>
          <a:xfrm>
            <a:off x="5604421" y="314414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Click-to-Drill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5604421" y="327749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Level Hierarki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7078861" y="2189857"/>
            <a:ext cx="1493490" cy="1373386"/>
          </a:xfrm>
          <a:prstGeom prst="roundRect">
            <a:avLst>
              <a:gd name="adj" fmla="val 5548"/>
            </a:avLst>
          </a:prstGeom>
          <a:solidFill>
            <a:srgbClr val="2767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231261" y="2342257"/>
            <a:ext cx="1212464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231261" y="2605088"/>
            <a:ext cx="121246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90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Pelacakan perubahan data antar periode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7231261" y="2986088"/>
            <a:ext cx="1212464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spcAft>
                <a:spcPts val="300"/>
              </a:spcAft>
              <a:buNone/>
            </a:pPr>
            <a:r>
              <a:rPr lang="en-US" sz="675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FITUR</a:t>
            </a:r>
            <a:endParaRPr lang="en-US" sz="675" dirty="0"/>
          </a:p>
        </p:txBody>
      </p:sp>
      <p:sp>
        <p:nvSpPr>
          <p:cNvPr id="31" name="Text 29"/>
          <p:cNvSpPr/>
          <p:nvPr/>
        </p:nvSpPr>
        <p:spPr>
          <a:xfrm>
            <a:off x="7231261" y="314414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Comparison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231261" y="3277493"/>
            <a:ext cx="1212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Calculation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82767" y="922139"/>
            <a:ext cx="157846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spcAft>
                <a:spcPts val="1500"/>
              </a:spcAft>
              <a:buNone/>
            </a:pPr>
            <a:r>
              <a:rPr lang="en-US" sz="1050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 INTERAKTIF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517172" y="1451670"/>
            <a:ext cx="4109657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00"/>
              </a:lnSpc>
              <a:spcAft>
                <a:spcPts val="900"/>
              </a:spcAft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Simulasi Dashboard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3193463" y="2137470"/>
            <a:ext cx="2756925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Aft>
                <a:spcPts val="3000"/>
              </a:spcAft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langsung 5 skenario penggunaan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42107" y="2884140"/>
            <a:ext cx="1234678" cy="617190"/>
          </a:xfrm>
          <a:prstGeom prst="roundRect">
            <a:avLst>
              <a:gd name="adj" fmla="val 12346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333786" y="3027015"/>
            <a:ext cx="85132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Skenario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333786" y="3225105"/>
            <a:ext cx="85132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Blokir DIPA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529185" y="2884140"/>
            <a:ext cx="1259681" cy="617190"/>
          </a:xfrm>
          <a:prstGeom prst="roundRect">
            <a:avLst>
              <a:gd name="adj" fmla="val 12346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720614" y="3027015"/>
            <a:ext cx="87682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Skenario 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20614" y="3225105"/>
            <a:ext cx="87682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 Bantuan Sosial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941266" y="2884140"/>
            <a:ext cx="1118443" cy="617190"/>
          </a:xfrm>
          <a:prstGeom prst="roundRect">
            <a:avLst>
              <a:gd name="adj" fmla="val 12346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134107" y="3027015"/>
            <a:ext cx="732761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Skenario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134107" y="3225105"/>
            <a:ext cx="7327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Varians Kegiatan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212110" y="2884140"/>
            <a:ext cx="1358354" cy="617190"/>
          </a:xfrm>
          <a:prstGeom prst="roundRect">
            <a:avLst>
              <a:gd name="adj" fmla="val 12346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402552" y="3027015"/>
            <a:ext cx="97747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Skenario 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02552" y="3225105"/>
            <a:ext cx="9774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Drill-Down Pertahanan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722864" y="2884140"/>
            <a:ext cx="1279029" cy="617190"/>
          </a:xfrm>
          <a:prstGeom prst="roundRect">
            <a:avLst>
              <a:gd name="adj" fmla="val 12346"/>
            </a:avLst>
          </a:prstGeom>
          <a:solidFill>
            <a:srgbClr val="FFFFFF">
              <a:alpha val="15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914099" y="3027015"/>
            <a:ext cx="896558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Skenario 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914099" y="3225105"/>
            <a:ext cx="89655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5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Kemenag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728877" y="4034730"/>
            <a:ext cx="168624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dashanggaran.streamlit.app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89261" y="2097435"/>
            <a:ext cx="96547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04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913230" y="2588865"/>
            <a:ext cx="3317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Risiko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1009650"/>
            <a:ext cx="40902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1200"/>
              </a:spcAft>
              <a:buNone/>
            </a:pPr>
            <a:r>
              <a:rPr lang="en-US" sz="2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Risiko Implementasi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1581150"/>
            <a:ext cx="8001000" cy="28575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04850" y="1657350"/>
            <a:ext cx="777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Kategori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619250" y="1657350"/>
            <a:ext cx="40222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Risiko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708333" y="1657350"/>
            <a:ext cx="6800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Dampak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534150" y="1657350"/>
            <a:ext cx="19431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Mitigasi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571500" y="1905000"/>
            <a:ext cx="8001000" cy="285750"/>
          </a:xfrm>
          <a:prstGeom prst="rect">
            <a:avLst/>
          </a:prstGeom>
          <a:solidFill>
            <a:srgbClr val="FF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04850" y="1981200"/>
            <a:ext cx="777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C5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Teknis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619250" y="1981200"/>
            <a:ext cx="40222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Kompatibilitas infrastruktur existing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708333" y="1987897"/>
            <a:ext cx="680085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675" b="1" dirty="0">
                <a:solidFill>
                  <a:srgbClr val="C05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Sedang</a:t>
            </a:r>
            <a:endParaRPr lang="en-US" sz="675" dirty="0"/>
          </a:p>
        </p:txBody>
      </p:sp>
      <p:sp>
        <p:nvSpPr>
          <p:cNvPr id="12" name="Text 10"/>
          <p:cNvSpPr/>
          <p:nvPr/>
        </p:nvSpPr>
        <p:spPr>
          <a:xfrm>
            <a:off x="6534150" y="1981200"/>
            <a:ext cx="19431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oleh DSP dan BATII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71500" y="2228850"/>
            <a:ext cx="8001000" cy="285750"/>
          </a:xfrm>
          <a:prstGeom prst="rect">
            <a:avLst/>
          </a:prstGeom>
          <a:solidFill>
            <a:srgbClr val="FF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4850" y="2305050"/>
            <a:ext cx="777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C5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Teknis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619250" y="2305050"/>
            <a:ext cx="40222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 query pada volume data besar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708333" y="2311747"/>
            <a:ext cx="680085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675" b="1" dirty="0">
                <a:solidFill>
                  <a:srgbClr val="C5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Tinggi</a:t>
            </a:r>
            <a:endParaRPr lang="en-US" sz="675" dirty="0"/>
          </a:p>
        </p:txBody>
      </p:sp>
      <p:sp>
        <p:nvSpPr>
          <p:cNvPr id="17" name="Text 15"/>
          <p:cNvSpPr/>
          <p:nvPr/>
        </p:nvSpPr>
        <p:spPr>
          <a:xfrm>
            <a:off x="6534150" y="2305050"/>
            <a:ext cx="19431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Optimasi, indexing, caching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71500" y="2552700"/>
            <a:ext cx="8001000" cy="285750"/>
          </a:xfrm>
          <a:prstGeom prst="rect">
            <a:avLst/>
          </a:prstGeom>
          <a:solidFill>
            <a:srgbClr val="FFFA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04850" y="2628900"/>
            <a:ext cx="777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C05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619250" y="2628900"/>
            <a:ext cx="40222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Inkonsistensi nomenklatur antar tahun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708333" y="2635597"/>
            <a:ext cx="680085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675" b="1" dirty="0">
                <a:solidFill>
                  <a:srgbClr val="C05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Sedang</a:t>
            </a:r>
            <a:endParaRPr lang="en-US" sz="675" dirty="0"/>
          </a:p>
        </p:txBody>
      </p:sp>
      <p:sp>
        <p:nvSpPr>
          <p:cNvPr id="22" name="Text 20"/>
          <p:cNvSpPr/>
          <p:nvPr/>
        </p:nvSpPr>
        <p:spPr>
          <a:xfrm>
            <a:off x="6534150" y="2628900"/>
            <a:ext cx="19431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mapping pada layer ETL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71500" y="2876550"/>
            <a:ext cx="8001000" cy="285750"/>
          </a:xfrm>
          <a:prstGeom prst="rect">
            <a:avLst/>
          </a:prstGeom>
          <a:solidFill>
            <a:srgbClr val="FFFA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04850" y="2952750"/>
            <a:ext cx="777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C05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619250" y="2952750"/>
            <a:ext cx="40222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Keterlambatan update dari sistem sumber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5708333" y="2959447"/>
            <a:ext cx="680085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675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Rendah</a:t>
            </a:r>
            <a:endParaRPr lang="en-US" sz="675" dirty="0"/>
          </a:p>
        </p:txBody>
      </p:sp>
      <p:sp>
        <p:nvSpPr>
          <p:cNvPr id="27" name="Text 25"/>
          <p:cNvSpPr/>
          <p:nvPr/>
        </p:nvSpPr>
        <p:spPr>
          <a:xfrm>
            <a:off x="6534150" y="2952750"/>
            <a:ext cx="19431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dengan tim pengelola Bidja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71500" y="3200400"/>
            <a:ext cx="8001000" cy="285750"/>
          </a:xfrm>
          <a:prstGeom prst="rect">
            <a:avLst/>
          </a:prstGeom>
          <a:solidFill>
            <a:srgbClr val="F0FF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04850" y="3276600"/>
            <a:ext cx="777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Organisasi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619250" y="3276600"/>
            <a:ext cx="40222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Kejelasan ownership setelah integrasi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708333" y="3283297"/>
            <a:ext cx="680085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675" b="1" dirty="0">
                <a:solidFill>
                  <a:srgbClr val="C05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Sedang</a:t>
            </a:r>
            <a:endParaRPr lang="en-US" sz="675" dirty="0"/>
          </a:p>
        </p:txBody>
      </p:sp>
      <p:sp>
        <p:nvSpPr>
          <p:cNvPr id="32" name="Text 30"/>
          <p:cNvSpPr/>
          <p:nvPr/>
        </p:nvSpPr>
        <p:spPr>
          <a:xfrm>
            <a:off x="6534150" y="3276600"/>
            <a:ext cx="19431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Penetapan PIC dan RACI matrix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71500" y="3524250"/>
            <a:ext cx="8001000" cy="285750"/>
          </a:xfrm>
          <a:prstGeom prst="rect">
            <a:avLst/>
          </a:prstGeom>
          <a:solidFill>
            <a:srgbClr val="F0FF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04850" y="3600450"/>
            <a:ext cx="777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Organisasi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1619250" y="3600450"/>
            <a:ext cx="40222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Adopsi pengguna dan change management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5708333" y="3607147"/>
            <a:ext cx="680085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675" b="1" dirty="0">
                <a:solidFill>
                  <a:srgbClr val="C05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Sedang</a:t>
            </a:r>
            <a:endParaRPr lang="en-US" sz="675" dirty="0"/>
          </a:p>
        </p:txBody>
      </p:sp>
      <p:sp>
        <p:nvSpPr>
          <p:cNvPr id="37" name="Text 35"/>
          <p:cNvSpPr/>
          <p:nvPr/>
        </p:nvSpPr>
        <p:spPr>
          <a:xfrm>
            <a:off x="6534150" y="3600450"/>
            <a:ext cx="19431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Sosialisasi dan pelatihan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71500" y="3848100"/>
            <a:ext cx="8001000" cy="285750"/>
          </a:xfrm>
          <a:prstGeom prst="rect">
            <a:avLst/>
          </a:prstGeom>
          <a:solidFill>
            <a:srgbClr val="EBF8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04850" y="3924300"/>
            <a:ext cx="777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b="1" dirty="0">
                <a:solidFill>
                  <a:srgbClr val="2B6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Keamanan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1619250" y="3924300"/>
            <a:ext cx="40222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 data sensitif anggaran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708333" y="3930997"/>
            <a:ext cx="680085" cy="119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675" b="1" dirty="0">
                <a:solidFill>
                  <a:srgbClr val="C5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Tinggi</a:t>
            </a:r>
            <a:endParaRPr lang="en-US" sz="675" dirty="0"/>
          </a:p>
        </p:txBody>
      </p:sp>
      <p:sp>
        <p:nvSpPr>
          <p:cNvPr id="42" name="Text 40"/>
          <p:cNvSpPr/>
          <p:nvPr/>
        </p:nvSpPr>
        <p:spPr>
          <a:xfrm>
            <a:off x="6534150" y="3924300"/>
            <a:ext cx="19431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Integrasi SSO + RBAC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89261" y="2135535"/>
            <a:ext cx="96547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05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753746" y="2626965"/>
            <a:ext cx="563650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 dan Rekomendasi</a:t>
            </a:r>
            <a:endParaRPr lang="en-US" sz="3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643235"/>
            <a:ext cx="40902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1500"/>
              </a:spcAft>
              <a:buNone/>
            </a:pPr>
            <a:r>
              <a:rPr lang="en-US" sz="2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Kesimpulan: Temuan Utama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1252835"/>
            <a:ext cx="8001000" cy="573286"/>
          </a:xfrm>
          <a:prstGeom prst="roundRect">
            <a:avLst>
              <a:gd name="adj" fmla="val 9969"/>
            </a:avLst>
          </a:prstGeom>
          <a:solidFill>
            <a:srgbClr val="EDF2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90550" y="1252835"/>
            <a:ext cx="0" cy="573286"/>
          </a:xfrm>
          <a:prstGeom prst="line">
            <a:avLst/>
          </a:prstGeom>
          <a:noFill/>
          <a:ln w="381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2000" y="1367135"/>
            <a:ext cx="781126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Modul Home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62000" y="1565225"/>
            <a:ext cx="78112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Sankey Diagram efektif mengungkap distribusi blokir anggaran yang terkonsentrasi pada fungsi dan jenis belanja tertentu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571500" y="1921371"/>
            <a:ext cx="8001000" cy="573286"/>
          </a:xfrm>
          <a:prstGeom prst="roundRect">
            <a:avLst>
              <a:gd name="adj" fmla="val 9969"/>
            </a:avLst>
          </a:prstGeom>
          <a:solidFill>
            <a:srgbClr val="E6FFF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90550" y="1921371"/>
            <a:ext cx="0" cy="573286"/>
          </a:xfrm>
          <a:prstGeom prst="line">
            <a:avLst/>
          </a:prstGeom>
          <a:noFill/>
          <a:ln w="38100">
            <a:solidFill>
              <a:srgbClr val="2C7A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2035671"/>
            <a:ext cx="781126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C7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Modul Tren Analisis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62000" y="2233761"/>
            <a:ext cx="78112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Perhitungan CAGR/AAGR/YoY otomatis membantu mengidentifikasi pola volatilitas dan restrukturisasi program antar tahun</a:t>
            </a:r>
            <a:endParaRPr lang="en-US" sz="825" dirty="0"/>
          </a:p>
        </p:txBody>
      </p:sp>
      <p:sp>
        <p:nvSpPr>
          <p:cNvPr id="11" name="Text 9"/>
          <p:cNvSpPr/>
          <p:nvPr/>
        </p:nvSpPr>
        <p:spPr>
          <a:xfrm>
            <a:off x="571500" y="2589907"/>
            <a:ext cx="8001000" cy="573286"/>
          </a:xfrm>
          <a:prstGeom prst="roundRect">
            <a:avLst>
              <a:gd name="adj" fmla="val 9969"/>
            </a:avLst>
          </a:prstGeom>
          <a:solidFill>
            <a:srgbClr val="FAF5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90550" y="2589907"/>
            <a:ext cx="0" cy="573286"/>
          </a:xfrm>
          <a:prstGeom prst="line">
            <a:avLst/>
          </a:prstGeom>
          <a:noFill/>
          <a:ln w="38100">
            <a:solidFill>
              <a:srgbClr val="553C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2000" y="2704207"/>
            <a:ext cx="781126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553C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Modul Komparatif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62000" y="2902297"/>
            <a:ext cx="78112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Dumbbell chart mengungkap konsentrasi varians tinggi - lebih dari 91% varians satu K/L dapat berasal dari satu kegiatan tunggal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571500" y="3258443"/>
            <a:ext cx="8001000" cy="573286"/>
          </a:xfrm>
          <a:prstGeom prst="roundRect">
            <a:avLst>
              <a:gd name="adj" fmla="val 9969"/>
            </a:avLst>
          </a:prstGeom>
          <a:solidFill>
            <a:srgbClr val="FFFA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90550" y="3258443"/>
            <a:ext cx="0" cy="573286"/>
          </a:xfrm>
          <a:prstGeom prst="line">
            <a:avLst/>
          </a:prstGeom>
          <a:noFill/>
          <a:ln w="38100">
            <a:solidFill>
              <a:srgbClr val="C0562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000" y="3372743"/>
            <a:ext cx="781126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056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Modul Klasifikasi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62000" y="3570833"/>
            <a:ext cx="78112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Drill-down 7 level memungkinkan transparansi alokasi hingga item pengadaan spesifik (contoh: Rafale = 2.3% total anggaran)</a:t>
            </a:r>
            <a:endParaRPr lang="en-US" sz="825" dirty="0"/>
          </a:p>
        </p:txBody>
      </p:sp>
      <p:sp>
        <p:nvSpPr>
          <p:cNvPr id="19" name="Text 17"/>
          <p:cNvSpPr/>
          <p:nvPr/>
        </p:nvSpPr>
        <p:spPr>
          <a:xfrm>
            <a:off x="571500" y="3926979"/>
            <a:ext cx="8001000" cy="573286"/>
          </a:xfrm>
          <a:prstGeom prst="roundRect">
            <a:avLst>
              <a:gd name="adj" fmla="val 9969"/>
            </a:avLst>
          </a:prstGeom>
          <a:solidFill>
            <a:srgbClr val="F0FF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90550" y="3926979"/>
            <a:ext cx="0" cy="573286"/>
          </a:xfrm>
          <a:prstGeom prst="line">
            <a:avLst/>
          </a:prstGeom>
          <a:noFill/>
          <a:ln w="38100">
            <a:solidFill>
              <a:srgbClr val="2767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2000" y="4041279"/>
            <a:ext cx="7811262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Modul Monitoring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62000" y="4239369"/>
            <a:ext cx="7811262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Pelacakan perubahan efektif mendeteksi aktivitas administratif (restrukturisasi nomenklatur) yang tidak terlihat di level agregat</a:t>
            </a:r>
            <a:endParaRPr lang="en-US" sz="825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312688"/>
            <a:ext cx="618877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spcAft>
                <a:spcPts val="1200"/>
              </a:spcAft>
              <a:buNone/>
            </a:pPr>
            <a:r>
              <a:rPr lang="en-US" sz="195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Rekomendasi: Arsitektur Pipeline Bidja ke SatuDJA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571500" y="865138"/>
            <a:ext cx="8001000" cy="617190"/>
          </a:xfrm>
          <a:prstGeom prst="roundRect">
            <a:avLst>
              <a:gd name="adj" fmla="val 9260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62000" y="998488"/>
            <a:ext cx="77724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45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1: SUMBER DATA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62000" y="1188988"/>
            <a:ext cx="77724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SAKTI (Anggaran) | Database SPAN (Realisasi) | Database OM-SPAN (Monitoring)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91490" y="1558528"/>
            <a:ext cx="81610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71500" y="1847999"/>
            <a:ext cx="8001000" cy="617190"/>
          </a:xfrm>
          <a:prstGeom prst="roundRect">
            <a:avLst>
              <a:gd name="adj" fmla="val 9260"/>
            </a:avLst>
          </a:prstGeom>
          <a:solidFill>
            <a:srgbClr val="2C7A7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62000" y="1981349"/>
            <a:ext cx="77724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45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2: INTEGRASI DATA (ETL) - BIDJA DATA WAREHOUSE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62000" y="2171849"/>
            <a:ext cx="77724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 Extraction | Data Transformation | Delta Loading | Historical Snapshots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91490" y="2541389"/>
            <a:ext cx="81610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1500" y="2830860"/>
            <a:ext cx="8001000" cy="617190"/>
          </a:xfrm>
          <a:prstGeom prst="roundRect">
            <a:avLst>
              <a:gd name="adj" fmla="val 9260"/>
            </a:avLst>
          </a:prstGeom>
          <a:solidFill>
            <a:srgbClr val="553C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62000" y="2964210"/>
            <a:ext cx="77724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45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3: LAYANAN API (REST API GATEWAY)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62000" y="3154710"/>
            <a:ext cx="77724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/api/anggaran | /api/realisasi | /api/trend | /api/klasifikasi | /api/monitoring | /api/sankey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1490" y="3524250"/>
            <a:ext cx="81610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71500" y="3813721"/>
            <a:ext cx="8001000" cy="617190"/>
          </a:xfrm>
          <a:prstGeom prst="roundRect">
            <a:avLst>
              <a:gd name="adj" fmla="val 9260"/>
            </a:avLst>
          </a:prstGeom>
          <a:solidFill>
            <a:srgbClr val="C0562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62000" y="3947071"/>
            <a:ext cx="77724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Aft>
                <a:spcPts val="450"/>
              </a:spcAft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4: VISUALISASI (SATUDJA)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62000" y="4137571"/>
            <a:ext cx="7772400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| TREN | KOMPARATIF | KLASIFIKASI | MONITORING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71500" y="4697611"/>
            <a:ext cx="816102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900"/>
              </a:spcBef>
              <a:buNone/>
            </a:pPr>
            <a:r>
              <a:rPr lang="en-US" sz="7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teknis perlu dikoordinasikan dengan DSP DJA dan BATII selaku tim teknis IT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674638"/>
            <a:ext cx="409022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Aft>
                <a:spcPts val="1800"/>
              </a:spcAft>
              <a:buNone/>
            </a:pPr>
            <a:r>
              <a:rPr lang="en-US" sz="2100" b="1" dirty="0">
                <a:solidFill>
                  <a:srgbClr val="1E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Pertimbangan Implementasi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571500" y="1322338"/>
            <a:ext cx="3905250" cy="917972"/>
          </a:xfrm>
          <a:prstGeom prst="roundRect">
            <a:avLst>
              <a:gd name="adj" fmla="val 8301"/>
            </a:avLst>
          </a:prstGeom>
          <a:solidFill>
            <a:srgbClr val="EBF8FF"/>
          </a:solidFill>
          <a:ln w="9525">
            <a:solidFill>
              <a:srgbClr val="63B3E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52475" y="1503313"/>
            <a:ext cx="361416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B6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Biaya-Manfaat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2475" y="1766143"/>
            <a:ext cx="3614166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Estimasi effort pengembangan, biaya infrastruktur, dan potensi penghematan perlu dilakukan sebelum implementasi</a:t>
            </a:r>
            <a:endParaRPr lang="en-US" sz="825" dirty="0"/>
          </a:p>
        </p:txBody>
      </p:sp>
      <p:sp>
        <p:nvSpPr>
          <p:cNvPr id="6" name="Text 4"/>
          <p:cNvSpPr/>
          <p:nvPr/>
        </p:nvSpPr>
        <p:spPr>
          <a:xfrm>
            <a:off x="4667250" y="1322338"/>
            <a:ext cx="3905250" cy="917972"/>
          </a:xfrm>
          <a:prstGeom prst="roundRect">
            <a:avLst>
              <a:gd name="adj" fmla="val 8301"/>
            </a:avLst>
          </a:prstGeom>
          <a:solidFill>
            <a:srgbClr val="F0FFF4"/>
          </a:solidFill>
          <a:ln w="9525">
            <a:solidFill>
              <a:srgbClr val="68D39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48225" y="1503313"/>
            <a:ext cx="361416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2767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Skalabilitas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848225" y="1766143"/>
            <a:ext cx="3614166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Arsitektur harus mampu melayani seluruh pegawai internal DJA secara bersamaan dengan optimasi performa</a:t>
            </a:r>
            <a:endParaRPr lang="en-US" sz="825" dirty="0"/>
          </a:p>
        </p:txBody>
      </p:sp>
      <p:sp>
        <p:nvSpPr>
          <p:cNvPr id="9" name="Text 7"/>
          <p:cNvSpPr/>
          <p:nvPr/>
        </p:nvSpPr>
        <p:spPr>
          <a:xfrm>
            <a:off x="571500" y="2583210"/>
            <a:ext cx="3905250" cy="917972"/>
          </a:xfrm>
          <a:prstGeom prst="roundRect">
            <a:avLst>
              <a:gd name="adj" fmla="val 8301"/>
            </a:avLst>
          </a:prstGeom>
          <a:solidFill>
            <a:srgbClr val="FFF5F5"/>
          </a:solidFill>
          <a:ln w="9525">
            <a:solidFill>
              <a:srgbClr val="FC818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52475" y="2764185"/>
            <a:ext cx="361416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C5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Keamanan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52475" y="3027015"/>
            <a:ext cx="3614166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Integrasi SSO Kemenkeu dan implementasi role-based access control (RBAC) sesuai kewenangan pengguna</a:t>
            </a:r>
            <a:endParaRPr lang="en-US" sz="825" dirty="0"/>
          </a:p>
        </p:txBody>
      </p:sp>
      <p:sp>
        <p:nvSpPr>
          <p:cNvPr id="12" name="Text 10"/>
          <p:cNvSpPr/>
          <p:nvPr/>
        </p:nvSpPr>
        <p:spPr>
          <a:xfrm>
            <a:off x="4667250" y="2583210"/>
            <a:ext cx="3905250" cy="917972"/>
          </a:xfrm>
          <a:prstGeom prst="roundRect">
            <a:avLst>
              <a:gd name="adj" fmla="val 8301"/>
            </a:avLst>
          </a:prstGeom>
          <a:solidFill>
            <a:srgbClr val="FAF5FF"/>
          </a:solidFill>
          <a:ln w="9525">
            <a:solidFill>
              <a:srgbClr val="B794F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848225" y="2764185"/>
            <a:ext cx="361416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553C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Keberlanjutan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848225" y="3027015"/>
            <a:ext cx="3614166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Penetapan ownership yang jelas dan knowledge transfer dari Secondee ke tim internal DJA</a:t>
            </a:r>
            <a:endParaRPr lang="en-US" sz="825" dirty="0"/>
          </a:p>
        </p:txBody>
      </p:sp>
      <p:sp>
        <p:nvSpPr>
          <p:cNvPr id="15" name="Text 13"/>
          <p:cNvSpPr/>
          <p:nvPr/>
        </p:nvSpPr>
        <p:spPr>
          <a:xfrm>
            <a:off x="571500" y="3844082"/>
            <a:ext cx="8001000" cy="624780"/>
          </a:xfrm>
          <a:prstGeom prst="roundRect">
            <a:avLst>
              <a:gd name="adj" fmla="val 12196"/>
            </a:avLst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23900" y="3996482"/>
            <a:ext cx="785012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Koordinasi Teknis: Detail arsitektur perlu dikoordinasikan dengan DSP DJA dan BATII untuk memastikan kesesuaian dengan standar dan infrastruktur existing.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24847" y="812602"/>
            <a:ext cx="2894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00"/>
              </a:lnSpc>
              <a:spcAft>
                <a:spcPts val="15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Kasih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219572" y="1612702"/>
            <a:ext cx="270485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Prototipe Dashboard Analisis Anggaran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089931" y="2054572"/>
            <a:ext cx="2964138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70"/>
              </a:lnSpc>
              <a:spcAft>
                <a:spcPts val="3000"/>
              </a:spcAft>
              <a:buNone/>
            </a:pPr>
            <a:r>
              <a:rPr lang="en-US" sz="1050" dirty="0">
                <a:solidFill>
                  <a:srgbClr val="FFFFFF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of Concept untuk Pengembangan SatuDJA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038029" y="2774603"/>
            <a:ext cx="3067794" cy="862757"/>
          </a:xfrm>
          <a:prstGeom prst="roundRect">
            <a:avLst>
              <a:gd name="adj" fmla="val 883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405686" y="2974628"/>
            <a:ext cx="2332479" cy="14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55"/>
              </a:lnSpc>
              <a:spcAft>
                <a:spcPts val="600"/>
              </a:spcAft>
              <a:buNone/>
            </a:pPr>
            <a:r>
              <a:rPr lang="en-US" sz="825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 PROTOTIPE</a:t>
            </a:r>
            <a:endParaRPr lang="en-US" sz="825" dirty="0"/>
          </a:p>
        </p:txBody>
      </p:sp>
      <p:sp>
        <p:nvSpPr>
          <p:cNvPr id="7" name="Text 5"/>
          <p:cNvSpPr/>
          <p:nvPr/>
        </p:nvSpPr>
        <p:spPr>
          <a:xfrm>
            <a:off x="3405686" y="3197423"/>
            <a:ext cx="23324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dashanggaran.streamlit.app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687346" y="4170759"/>
            <a:ext cx="376915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spcBef>
                <a:spcPts val="3000"/>
              </a:spcBef>
              <a:buNone/>
            </a:pPr>
            <a:r>
              <a:rPr lang="en-US" sz="900" dirty="0">
                <a:solidFill>
                  <a:srgbClr val="FFFFFF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Secondment - Direktorat Abid PMK - DJA - Kemenkeu RI | 2025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Kementerian Keuangan RI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Laporan Program Deliverables - Prototipe Dashboard Analisis Anggaran</dc:title>
  <dc:subject>PptxGenJS Presentation</dc:subject>
  <dc:creator>Program Secondment - Abid PMK DJA</dc:creator>
  <cp:lastModifiedBy>Program Secondment - Abid PMK DJA</cp:lastModifiedBy>
  <cp:revision>1</cp:revision>
  <dcterms:created xsi:type="dcterms:W3CDTF">2025-12-24T09:01:10Z</dcterms:created>
  <dcterms:modified xsi:type="dcterms:W3CDTF">2025-12-24T09:01:10Z</dcterms:modified>
</cp:coreProperties>
</file>